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presenter, annoncer le titre et la question. Client : Oxand.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QUI est le client : Oxand, gestion du bati, outil Simeo (economies d'energie apres renovation).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manque : Simeo ne couvre pas la production locale (solaire). Le besoin = evaluer l'interet du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Definir le besoin en objectif precis : production + rentabilite par departement. Rappeler le perimetre. Ce n'est pas construire Simeo, mais defricher.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Raconter la demarche en 4 temps. Mentionner la reproductibilite.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credibilite : reel (PVGIS, carte) / hypothese (couts, tarifs) / calcule (rentabilite).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qui justifie les chiffres. Ordres de grandeur de marche (note de cadrage), assumes comme hypotheses. Tarif S21 = reglemente ; production PVGIS = reel.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Traduire chaque indicateur en une phrase simple. Donner l'ordre de grandeur si on te le demande (LCOE ~8c, payback 6-8 ans, TRI ~14%, VAN +130k).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 4 cartes issues du notebook. Toutes montrent le meme gradient Nord-Sud. Scenario : autoconsommation, installation 100 kWc.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DEMO en direct : bouger un scenario, montrer la carte. Coller l'URL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Schema recapitulatif : de la question aux conclusions, avec les donnees, le calcul et les indicateurs. Sert de fil rouge / recap a la fin de la partie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cle. 3 conclusions appuyees sur mes chiffres reels. Ralentir.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sur le message cle puis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Client : Oxand — logiciel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EB2C9"/>
                </a:solidFill>
                <a:latin typeface="Calibri"/>
              </a:rPr>
              <a:t>Imene BELHOCINE   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client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64008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Oxand — gestion du patrimoine bâti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Anticiper les coûts, rénover au bon moment, prolonger la durée de vie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Simeo — son logiciel : simule les gains d'une rénovation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→ le point de départ de mon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6EDF4"/>
                </a:solidFill>
                <a:latin typeface="Calibri"/>
              </a:rPr>
              <a:t>L'outil d'Oxand pour chiffrer les économies d'énergie liées à la rénovation.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058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Simeo sait chiffrer : </a:t>
            </a:r>
            <a:r>
              <a:rPr sz="1600" b="1">
                <a:solidFill>
                  <a:srgbClr val="222B36"/>
                </a:solidFill>
                <a:latin typeface="Calibri"/>
              </a:rPr>
              <a:t>consommer moins</a:t>
            </a:r>
            <a:r>
              <a:rPr sz="1600" b="0">
                <a:solidFill>
                  <a:srgbClr val="222B36"/>
                </a:solidFill>
                <a:latin typeface="Calibri"/>
              </a:rPr>
              <a:t> (isolation, ventilation)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Pas encore : </a:t>
            </a:r>
            <a:r>
              <a:rPr sz="1600" b="1">
                <a:solidFill>
                  <a:srgbClr val="222B36"/>
                </a:solidFill>
                <a:latin typeface="Calibri"/>
              </a:rPr>
              <a:t>produire sa propre énergie</a:t>
            </a:r>
            <a:r>
              <a:rPr sz="1600" b="0">
                <a:solidFill>
                  <a:srgbClr val="222B36"/>
                </a:solidFill>
                <a:latin typeface="Calibri"/>
              </a:rPr>
              <a:t> → le solaire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Pourquoi maintenant : obligations (loi APER) + prix des panneaux en baisse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Objectif : estimer la production + la rentabilité, par département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Département par département → voir les écarts Nord / Sud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Estimer la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47486"/>
                </a:solidFill>
                <a:latin typeface="Calibri"/>
              </a:rPr>
              <a:t>Chaîne testée et reproductible : les résultats peuvent être recalculés à l'identique.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Je distingue clairement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production des panneaux (par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La production est une donnée réelle sur les 96 départements ; ce qui est supposé est étiqueté comme tel.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65760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286000"/>
            <a:ext cx="237744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2286000"/>
            <a:ext cx="2103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38912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28600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78892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788920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788920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9272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19272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31927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615391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Source principale : note de cadrage (Annexe A) — ordres de grandeur de marché. La production, elle, vient de PVGIS (réel).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87451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1945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92607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47472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L'analyse : quatre cartes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Démonstration : l'outil interactif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800" b="0">
                <a:solidFill>
                  <a:srgbClr val="222B36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691640"/>
            <a:ext cx="3931920" cy="320040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20116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Cambria"/>
              </a:rPr>
              <a:t>À montrer en direct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256032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Application web, sur ordinateur et mobile.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3657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ADCFC"/>
                </a:solidFill>
                <a:latin typeface="Calibri"/>
              </a:rPr>
              <a:t>Lien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02336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A900"/>
                </a:solidFill>
                <a:latin typeface="Calibri"/>
              </a:rPr>
              <a:t>[ coller l'URL du dashboard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Astuce : insérer aussi une capture d'écran, en complément de la démo.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La démarche, en un schéma</a:t>
            </a:r>
          </a:p>
        </p:txBody>
      </p:sp>
      <p:pic>
        <p:nvPicPr>
          <p:cNvPr id="3" name="Picture 2" descr="schema-comp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881" y="1234440"/>
            <a:ext cx="850593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Temps de retour court, TRI ~14 % — produire coûte 2 à 3× moins cher qu'acheter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B2C9"/>
                </a:solidFill>
                <a:latin typeface="Calibri"/>
              </a:rPr>
              <a:t>Imene BELHOCINE   ·   Workshop client — Oxand   ·   MBA M2 Big Data &amp;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