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  <p:sldId id="263" r:id="rId10"/>
    <p:sldId id="264" r:id="rId11"/>
    <p:sldId id="265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mene BELHOCINE" userId="e37e8402-5311-406e-9548-87222291f0f9" providerId="ADAL" clId="{D63CC582-91E3-4D3B-90F1-775970AA34C9}"/>
    <pc:docChg chg="undo custSel delSld modSld sldOrd">
      <pc:chgData name="Imene BELHOCINE" userId="e37e8402-5311-406e-9548-87222291f0f9" providerId="ADAL" clId="{D63CC582-91E3-4D3B-90F1-775970AA34C9}" dt="2026-07-08T09:01:07.377" v="85" actId="1076"/>
      <pc:docMkLst>
        <pc:docMk/>
      </pc:docMkLst>
      <pc:sldChg chg="modNotesTx">
        <pc:chgData name="Imene BELHOCINE" userId="e37e8402-5311-406e-9548-87222291f0f9" providerId="ADAL" clId="{D63CC582-91E3-4D3B-90F1-775970AA34C9}" dt="2026-07-07T17:22:26.224" v="50" actId="20577"/>
        <pc:sldMkLst>
          <pc:docMk/>
          <pc:sldMk cId="0" sldId="256"/>
        </pc:sldMkLst>
      </pc:sldChg>
      <pc:sldChg chg="modNotesTx">
        <pc:chgData name="Imene BELHOCINE" userId="e37e8402-5311-406e-9548-87222291f0f9" providerId="ADAL" clId="{D63CC582-91E3-4D3B-90F1-775970AA34C9}" dt="2026-07-07T17:22:32.182" v="51" actId="20577"/>
        <pc:sldMkLst>
          <pc:docMk/>
          <pc:sldMk cId="0" sldId="257"/>
        </pc:sldMkLst>
      </pc:sldChg>
      <pc:sldChg chg="modNotesTx">
        <pc:chgData name="Imene BELHOCINE" userId="e37e8402-5311-406e-9548-87222291f0f9" providerId="ADAL" clId="{D63CC582-91E3-4D3B-90F1-775970AA34C9}" dt="2026-07-07T17:22:36.943" v="52" actId="20577"/>
        <pc:sldMkLst>
          <pc:docMk/>
          <pc:sldMk cId="0" sldId="258"/>
        </pc:sldMkLst>
      </pc:sldChg>
      <pc:sldChg chg="modNotesTx">
        <pc:chgData name="Imene BELHOCINE" userId="e37e8402-5311-406e-9548-87222291f0f9" providerId="ADAL" clId="{D63CC582-91E3-4D3B-90F1-775970AA34C9}" dt="2026-07-07T17:22:40.552" v="53" actId="20577"/>
        <pc:sldMkLst>
          <pc:docMk/>
          <pc:sldMk cId="0" sldId="259"/>
        </pc:sldMkLst>
      </pc:sldChg>
      <pc:sldChg chg="delSp modSp mod modNotesTx">
        <pc:chgData name="Imene BELHOCINE" userId="e37e8402-5311-406e-9548-87222291f0f9" providerId="ADAL" clId="{D63CC582-91E3-4D3B-90F1-775970AA34C9}" dt="2026-07-07T21:31:23.572" v="77" actId="478"/>
        <pc:sldMkLst>
          <pc:docMk/>
          <pc:sldMk cId="0" sldId="260"/>
        </pc:sldMkLst>
        <pc:spChg chg="del">
          <ac:chgData name="Imene BELHOCINE" userId="e37e8402-5311-406e-9548-87222291f0f9" providerId="ADAL" clId="{D63CC582-91E3-4D3B-90F1-775970AA34C9}" dt="2026-07-07T21:31:23.572" v="77" actId="478"/>
          <ac:spMkLst>
            <pc:docMk/>
            <pc:sldMk cId="0" sldId="260"/>
            <ac:spMk id="22" creationId="{00000000-0000-0000-0000-000000000000}"/>
          </ac:spMkLst>
        </pc:spChg>
        <pc:spChg chg="del mod">
          <ac:chgData name="Imene BELHOCINE" userId="e37e8402-5311-406e-9548-87222291f0f9" providerId="ADAL" clId="{D63CC582-91E3-4D3B-90F1-775970AA34C9}" dt="2026-07-07T21:31:21.895" v="76" actId="478"/>
          <ac:spMkLst>
            <pc:docMk/>
            <pc:sldMk cId="0" sldId="260"/>
            <ac:spMk id="23" creationId="{00000000-0000-0000-0000-000000000000}"/>
          </ac:spMkLst>
        </pc:spChg>
      </pc:sldChg>
      <pc:sldChg chg="delSp mod modNotesTx">
        <pc:chgData name="Imene BELHOCINE" userId="e37e8402-5311-406e-9548-87222291f0f9" providerId="ADAL" clId="{D63CC582-91E3-4D3B-90F1-775970AA34C9}" dt="2026-07-07T21:31:31.806" v="78" actId="478"/>
        <pc:sldMkLst>
          <pc:docMk/>
          <pc:sldMk cId="0" sldId="261"/>
        </pc:sldMkLst>
        <pc:spChg chg="del">
          <ac:chgData name="Imene BELHOCINE" userId="e37e8402-5311-406e-9548-87222291f0f9" providerId="ADAL" clId="{D63CC582-91E3-4D3B-90F1-775970AA34C9}" dt="2026-07-07T21:31:31.806" v="78" actId="478"/>
          <ac:spMkLst>
            <pc:docMk/>
            <pc:sldMk cId="0" sldId="261"/>
            <ac:spMk id="34" creationId="{00000000-0000-0000-0000-000000000000}"/>
          </ac:spMkLst>
        </pc:spChg>
      </pc:sldChg>
      <pc:sldChg chg="delSp mod modNotesTx">
        <pc:chgData name="Imene BELHOCINE" userId="e37e8402-5311-406e-9548-87222291f0f9" providerId="ADAL" clId="{D63CC582-91E3-4D3B-90F1-775970AA34C9}" dt="2026-07-07T21:31:46.235" v="80" actId="478"/>
        <pc:sldMkLst>
          <pc:docMk/>
          <pc:sldMk cId="0" sldId="262"/>
        </pc:sldMkLst>
        <pc:spChg chg="del">
          <ac:chgData name="Imene BELHOCINE" userId="e37e8402-5311-406e-9548-87222291f0f9" providerId="ADAL" clId="{D63CC582-91E3-4D3B-90F1-775970AA34C9}" dt="2026-07-07T21:31:46.235" v="80" actId="478"/>
          <ac:spMkLst>
            <pc:docMk/>
            <pc:sldMk cId="0" sldId="262"/>
            <ac:spMk id="46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21:31:41.557" v="79" actId="478"/>
          <ac:spMkLst>
            <pc:docMk/>
            <pc:sldMk cId="0" sldId="262"/>
            <ac:spMk id="74" creationId="{00000000-0000-0000-0000-000000000000}"/>
          </ac:spMkLst>
        </pc:spChg>
      </pc:sldChg>
      <pc:sldChg chg="modSp mod modNotesTx">
        <pc:chgData name="Imene BELHOCINE" userId="e37e8402-5311-406e-9548-87222291f0f9" providerId="ADAL" clId="{D63CC582-91E3-4D3B-90F1-775970AA34C9}" dt="2026-07-07T17:22:53.752" v="57" actId="20577"/>
        <pc:sldMkLst>
          <pc:docMk/>
          <pc:sldMk cId="0" sldId="263"/>
        </pc:sldMkLst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4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10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11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19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0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3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5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7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9" creationId="{00000000-0000-0000-0000-000000000000}"/>
          </ac:spMkLst>
        </pc:spChg>
      </pc:sldChg>
      <pc:sldChg chg="modNotesTx">
        <pc:chgData name="Imene BELHOCINE" userId="e37e8402-5311-406e-9548-87222291f0f9" providerId="ADAL" clId="{D63CC582-91E3-4D3B-90F1-775970AA34C9}" dt="2026-07-07T17:22:57.626" v="58" actId="20577"/>
        <pc:sldMkLst>
          <pc:docMk/>
          <pc:sldMk cId="0" sldId="264"/>
        </pc:sldMkLst>
      </pc:sldChg>
      <pc:sldChg chg="delSp modSp mod modNotesTx">
        <pc:chgData name="Imene BELHOCINE" userId="e37e8402-5311-406e-9548-87222291f0f9" providerId="ADAL" clId="{D63CC582-91E3-4D3B-90F1-775970AA34C9}" dt="2026-07-07T17:39:07.901" v="74" actId="478"/>
        <pc:sldMkLst>
          <pc:docMk/>
          <pc:sldMk cId="0" sldId="265"/>
        </pc:sldMkLst>
        <pc:spChg chg="del">
          <ac:chgData name="Imene BELHOCINE" userId="e37e8402-5311-406e-9548-87222291f0f9" providerId="ADAL" clId="{D63CC582-91E3-4D3B-90F1-775970AA34C9}" dt="2026-07-07T17:39:01.528" v="70" actId="478"/>
          <ac:spMkLst>
            <pc:docMk/>
            <pc:sldMk cId="0" sldId="265"/>
            <ac:spMk id="4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5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7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8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9:06.643" v="73" actId="478"/>
          <ac:spMkLst>
            <pc:docMk/>
            <pc:sldMk cId="0" sldId="265"/>
            <ac:spMk id="9" creationId="{00000000-0000-0000-0000-000000000000}"/>
          </ac:spMkLst>
        </pc:spChg>
        <pc:spChg chg="del mod">
          <ac:chgData name="Imene BELHOCINE" userId="e37e8402-5311-406e-9548-87222291f0f9" providerId="ADAL" clId="{D63CC582-91E3-4D3B-90F1-775970AA34C9}" dt="2026-07-07T17:39:00.176" v="69" actId="478"/>
          <ac:spMkLst>
            <pc:docMk/>
            <pc:sldMk cId="0" sldId="265"/>
            <ac:spMk id="11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2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3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4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5" creationId="{00000000-0000-0000-0000-000000000000}"/>
          </ac:spMkLst>
        </pc:spChg>
        <pc:spChg chg="del mod">
          <ac:chgData name="Imene BELHOCINE" userId="e37e8402-5311-406e-9548-87222291f0f9" providerId="ADAL" clId="{D63CC582-91E3-4D3B-90F1-775970AA34C9}" dt="2026-07-07T17:39:07.901" v="74" actId="478"/>
          <ac:spMkLst>
            <pc:docMk/>
            <pc:sldMk cId="0" sldId="265"/>
            <ac:spMk id="16" creationId="{00000000-0000-0000-0000-000000000000}"/>
          </ac:spMkLst>
        </pc:spChg>
      </pc:sldChg>
      <pc:sldChg chg="del ord modNotesTx">
        <pc:chgData name="Imene BELHOCINE" userId="e37e8402-5311-406e-9548-87222291f0f9" providerId="ADAL" clId="{D63CC582-91E3-4D3B-90F1-775970AA34C9}" dt="2026-07-07T17:38:40.861" v="65" actId="47"/>
        <pc:sldMkLst>
          <pc:docMk/>
          <pc:sldMk cId="0" sldId="266"/>
        </pc:sldMkLst>
      </pc:sldChg>
      <pc:sldChg chg="modNotesTx">
        <pc:chgData name="Imene BELHOCINE" userId="e37e8402-5311-406e-9548-87222291f0f9" providerId="ADAL" clId="{D63CC582-91E3-4D3B-90F1-775970AA34C9}" dt="2026-07-07T17:23:07.188" v="61" actId="20577"/>
        <pc:sldMkLst>
          <pc:docMk/>
          <pc:sldMk cId="0" sldId="267"/>
        </pc:sldMkLst>
      </pc:sldChg>
      <pc:sldChg chg="modNotesTx">
        <pc:chgData name="Imene BELHOCINE" userId="e37e8402-5311-406e-9548-87222291f0f9" providerId="ADAL" clId="{D63CC582-91E3-4D3B-90F1-775970AA34C9}" dt="2026-07-07T17:23:09.683" v="62" actId="20577"/>
        <pc:sldMkLst>
          <pc:docMk/>
          <pc:sldMk cId="0" sldId="268"/>
        </pc:sldMkLst>
      </pc:sldChg>
      <pc:sldChg chg="delSp modSp mod">
        <pc:chgData name="Imene BELHOCINE" userId="e37e8402-5311-406e-9548-87222291f0f9" providerId="ADAL" clId="{D63CC582-91E3-4D3B-90F1-775970AA34C9}" dt="2026-07-08T09:01:07.377" v="85" actId="1076"/>
        <pc:sldMkLst>
          <pc:docMk/>
          <pc:sldMk cId="0" sldId="269"/>
        </pc:sldMkLst>
        <pc:spChg chg="mod">
          <ac:chgData name="Imene BELHOCINE" userId="e37e8402-5311-406e-9548-87222291f0f9" providerId="ADAL" clId="{D63CC582-91E3-4D3B-90F1-775970AA34C9}" dt="2026-07-08T09:01:07.377" v="85" actId="1076"/>
          <ac:spMkLst>
            <pc:docMk/>
            <pc:sldMk cId="0" sldId="269"/>
            <ac:spMk id="4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8T09:01:07.377" v="85" actId="1076"/>
          <ac:spMkLst>
            <pc:docMk/>
            <pc:sldMk cId="0" sldId="269"/>
            <ac:spMk id="5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8T09:01:07.377" v="85" actId="1076"/>
          <ac:spMkLst>
            <pc:docMk/>
            <pc:sldMk cId="0" sldId="269"/>
            <ac:spMk id="6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8T09:01:07.377" v="85" actId="1076"/>
          <ac:spMkLst>
            <pc:docMk/>
            <pc:sldMk cId="0" sldId="269"/>
            <ac:spMk id="7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8T09:01:07.377" v="85" actId="1076"/>
          <ac:spMkLst>
            <pc:docMk/>
            <pc:sldMk cId="0" sldId="269"/>
            <ac:spMk id="8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8T09:01:07.377" v="85" actId="1076"/>
          <ac:spMkLst>
            <pc:docMk/>
            <pc:sldMk cId="0" sldId="269"/>
            <ac:spMk id="9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8T09:00:40.448" v="82" actId="478"/>
          <ac:spMkLst>
            <pc:docMk/>
            <pc:sldMk cId="0" sldId="269"/>
            <ac:spMk id="10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8T09:00:46.545" v="84" actId="478"/>
          <ac:spMkLst>
            <pc:docMk/>
            <pc:sldMk cId="0" sldId="269"/>
            <ac:spMk id="11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8T09:00:43.876" v="83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58199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Workshop client  ·  MBA M2 Big Data &amp;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Potentiel photovoltaïque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des toitures tertiaires en France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Où, et à quelles conditions, est-ce rentable ? — une analyse par département.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Client : Oxand — logiciel Simeo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EB2C9"/>
                </a:solidFill>
                <a:latin typeface="Calibri"/>
              </a:rPr>
              <a:t>Imene BELHOCINE   ·  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client : 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64008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Oxand — gestion du patrimoine bâti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Anticiper les coûts, rénover au bon moment, prolonger la durée de vie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Simeo — son logiciel : simule les gains d'une rénovation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→ le point de départ de mon projet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1691640"/>
            <a:ext cx="3566160" cy="3291840"/>
          </a:xfrm>
          <a:prstGeom prst="round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01000" y="2011680"/>
            <a:ext cx="292608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Simeo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2200" b="1">
              <a:solidFill>
                <a:srgbClr val="FFFFFF"/>
              </a:solidFill>
              <a:latin typeface="Cambria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6EDF4"/>
                </a:solidFill>
                <a:latin typeface="Calibri"/>
              </a:rPr>
              <a:t>L'outil d'Oxand pour chiffrer les économies d'énergie liées à la rénovation.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besoin d'Oxand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0584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Simeo sait chiffrer : </a:t>
            </a:r>
            <a:r>
              <a:rPr sz="1600" b="1">
                <a:solidFill>
                  <a:srgbClr val="222B36"/>
                </a:solidFill>
                <a:latin typeface="Calibri"/>
              </a:rPr>
              <a:t>consommer moins</a:t>
            </a:r>
            <a:r>
              <a:rPr sz="1600" b="0">
                <a:solidFill>
                  <a:srgbClr val="222B36"/>
                </a:solidFill>
                <a:latin typeface="Calibri"/>
              </a:rPr>
              <a:t> (isolation, ventilation)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Pas encore : </a:t>
            </a:r>
            <a:r>
              <a:rPr sz="1600" b="1">
                <a:solidFill>
                  <a:srgbClr val="222B36"/>
                </a:solidFill>
                <a:latin typeface="Calibri"/>
              </a:rPr>
              <a:t>produire sa propre énergie</a:t>
            </a:r>
            <a:r>
              <a:rPr sz="1600" b="0">
                <a:solidFill>
                  <a:srgbClr val="222B36"/>
                </a:solidFill>
                <a:latin typeface="Calibri"/>
              </a:rPr>
              <a:t> → le solaire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Pourquoi maintenant : obligations (loi APER) + prix des panneaux en baisse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840480"/>
            <a:ext cx="10332720" cy="137160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7B"/>
                </a:solidFill>
                <a:latin typeface="Calibri"/>
              </a:rPr>
              <a:t>Le besoin  </a:t>
            </a:r>
            <a:r>
              <a:rPr sz="1500" b="0">
                <a:solidFill>
                  <a:srgbClr val="222B36"/>
                </a:solidFill>
                <a:latin typeface="Calibri"/>
              </a:rPr>
              <a:t>— aider Oxand à savoir si le solaire en toiture tertiaire vaut le coup, pour préparer son intégration future dans Simeo.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Définition du besoin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241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Objectif : estimer la production + la rentabilité, par département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Département par département → voir les écarts Nord / Sud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France métropolitaine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MAILLE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le département (~96)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CIBLE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toitures tertiaires (9–500 kWc)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10332720" cy="105156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523036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B36"/>
                </a:solidFill>
                <a:latin typeface="Calibri"/>
              </a:rPr>
              <a:t>Le projet caractérise le « terrain de jeu » — il ne construit pas le module Simeo.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Comment j'ai procédé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Estimer la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Données officielles PVGIS, pour chaque département.</a:t>
            </a:r>
          </a:p>
        </p:txBody>
      </p:sp>
      <p:sp>
        <p:nvSpPr>
          <p:cNvPr id="7" name="Chevron 6"/>
          <p:cNvSpPr/>
          <p:nvPr/>
        </p:nvSpPr>
        <p:spPr>
          <a:xfrm>
            <a:off x="2999232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502152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02152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Chiffrer coûts &amp; revenus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Investissement, entretien, électricité, sur 25 ans.</a:t>
            </a:r>
          </a:p>
        </p:txBody>
      </p:sp>
      <p:sp>
        <p:nvSpPr>
          <p:cNvPr id="12" name="Chevron 11"/>
          <p:cNvSpPr/>
          <p:nvPr/>
        </p:nvSpPr>
        <p:spPr>
          <a:xfrm>
            <a:off x="5586984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089904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89904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En déduire la rentabilité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Prix de revient, temps de retour, rendement, gain.</a:t>
            </a:r>
          </a:p>
        </p:txBody>
      </p:sp>
      <p:sp>
        <p:nvSpPr>
          <p:cNvPr id="17" name="Chevron 16"/>
          <p:cNvSpPr/>
          <p:nvPr/>
        </p:nvSpPr>
        <p:spPr>
          <a:xfrm>
            <a:off x="8174736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77656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77656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656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Rendre lisible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77656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Une cartographie + un outil interactif.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Gestion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47486"/>
                </a:solidFill>
                <a:latin typeface="Calibri"/>
              </a:rPr>
              <a:t>Un projet mené principalement en autonomie, cadré comme une vraie mission.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55333" y="2514600"/>
            <a:ext cx="3383280" cy="283464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29653" y="28346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E7C7B"/>
                </a:solidFill>
                <a:latin typeface="Cambria"/>
              </a:rPr>
              <a:t>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29653" y="3566160"/>
            <a:ext cx="28346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dirty="0">
                <a:solidFill>
                  <a:srgbClr val="222B36"/>
                </a:solidFill>
                <a:latin typeface="Calibri"/>
              </a:rPr>
              <a:t>Un plan en jalons dès le départ : cadrage → données → modèle → dashboard → recettage → dossier.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4373" y="2514600"/>
            <a:ext cx="3383280" cy="283464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78693" y="28346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E7C7B"/>
                </a:solidFill>
                <a:latin typeface="Cambria"/>
              </a:rPr>
              <a:t>Suivi &amp;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8693" y="3566160"/>
            <a:ext cx="2834640" cy="2202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dirty="0">
                <a:solidFill>
                  <a:srgbClr val="222B36"/>
                </a:solidFill>
                <a:latin typeface="Calibri"/>
              </a:rPr>
              <a:t>Un point avec Oxand à chaque semaine de workshop.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Je distingue clairement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faits</a:t>
            </a:r>
            <a:r>
              <a:rPr sz="1500" b="0">
                <a:solidFill>
                  <a:srgbClr val="222B36"/>
                </a:solidFill>
                <a:latin typeface="Calibri"/>
              </a:rPr>
              <a:t>, les </a:t>
            </a:r>
            <a:r>
              <a:rPr sz="1500" b="1">
                <a:solidFill>
                  <a:srgbClr val="F2A900"/>
                </a:solidFill>
                <a:latin typeface="Calibri"/>
              </a:rPr>
              <a:t>hypothèses</a:t>
            </a:r>
            <a:r>
              <a:rPr sz="1500" b="0">
                <a:solidFill>
                  <a:srgbClr val="222B36"/>
                </a:solidFill>
                <a:latin typeface="Calibri"/>
              </a:rPr>
              <a:t> et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calculs</a:t>
            </a:r>
            <a:r>
              <a:rPr sz="1500" b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512064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286000"/>
            <a:ext cx="384048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elle vient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0" y="2286000"/>
            <a:ext cx="137160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12680" y="228600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43200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4320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production des panneaux (par département)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743200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743200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Source officielle PVGIS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75520" y="2743200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12680" y="274320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0128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31012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carte des départements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310128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72200" y="3310128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Fichier géographique officiel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3310128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12680" y="3310128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77056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877056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Les coûts et les tarifs de l'électricité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3877056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0" y="3877056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Estimations de la note de cadrage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75520" y="3877056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12680" y="3877056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2A900"/>
                </a:solidFill>
                <a:latin typeface="Calibri"/>
              </a:rPr>
              <a:t>Hypothèse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43983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4443983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rentabilité (prix de revient, gain…)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4443983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72200" y="4443983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Mon modèle de calcul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75520" y="4443983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12680" y="4443983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Calculé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2293D"/>
                </a:solidFill>
                <a:latin typeface="Cambria"/>
              </a:rPr>
              <a:t>Les hypothèses clés — et d'où elles viennent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6"/>
                </a:solidFill>
                <a:latin typeface="Calibri"/>
              </a:rPr>
              <a:t>Tous les chiffres du modèle sont explicites et assumés comme des hypothèses.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365760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Hypothèse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286000"/>
            <a:ext cx="237744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09160" y="22860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Valeur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0" y="2286000"/>
            <a:ext cx="438912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86600" y="2286000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ça vient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88920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8892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Durée de vie analysée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788920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9160" y="2788920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25 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788920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788920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Durée de vie standard des panneaux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9272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319272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de l'électricité réseau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319272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09160" y="3319272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~20 c/kWh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0" y="3319272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86600" y="3319272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moyen évité en tertiaire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49624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849624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Tarif de revente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849624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09160" y="384962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8–13 c/kWh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3849624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86600" y="3849624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Arrêté tarifaire S21 (réglementé)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379975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4379975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Coût d'installation (CAPEX)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4379975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09160" y="4379975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1100–1850 €/kWc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379975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086600" y="4379975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Fourchettes de marché selon la taille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4910327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51560" y="4910327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Entretien (OPEX)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910327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09160" y="4910327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1,5 %/an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4910327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086600" y="4910327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Maintenance courante d'une installation PV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440679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51560" y="5440679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Taux d'autoconsommation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5440679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709160" y="5440679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65 %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9440" y="5440679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86600" y="5440679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Usage réaliste pour du tertiaire</a:t>
            </a:r>
          </a:p>
        </p:txBody>
      </p:sp>
      <p:sp>
        <p:nvSpPr>
          <p:cNvPr id="47" name="TextBox 18"/>
          <p:cNvSpPr txBox="1"/>
          <p:nvPr/>
        </p:nvSpPr>
        <p:spPr>
          <a:xfrm>
            <a:off x="4709160" y="3319272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~20 c/kWh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3319272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20"/>
          <p:cNvSpPr txBox="1"/>
          <p:nvPr/>
        </p:nvSpPr>
        <p:spPr>
          <a:xfrm>
            <a:off x="7086600" y="3319272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moyen évité en tertiaire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3849624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22"/>
          <p:cNvSpPr txBox="1"/>
          <p:nvPr/>
        </p:nvSpPr>
        <p:spPr>
          <a:xfrm>
            <a:off x="1051560" y="3849624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Tarif de revente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3849624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4"/>
          <p:cNvSpPr txBox="1"/>
          <p:nvPr/>
        </p:nvSpPr>
        <p:spPr>
          <a:xfrm>
            <a:off x="4709160" y="384962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8–13 c/kWh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9440" y="3849624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26"/>
          <p:cNvSpPr txBox="1"/>
          <p:nvPr/>
        </p:nvSpPr>
        <p:spPr>
          <a:xfrm>
            <a:off x="7086600" y="3849624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Arrêté tarifaire S21 (réglementé)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4379975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28"/>
          <p:cNvSpPr txBox="1"/>
          <p:nvPr/>
        </p:nvSpPr>
        <p:spPr>
          <a:xfrm>
            <a:off x="1051560" y="4379975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Coût d'installation (CAPEX)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4379975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30"/>
          <p:cNvSpPr txBox="1"/>
          <p:nvPr/>
        </p:nvSpPr>
        <p:spPr>
          <a:xfrm>
            <a:off x="4709160" y="4379975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1100–1850 €/kWc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49440" y="4379975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32"/>
          <p:cNvSpPr txBox="1"/>
          <p:nvPr/>
        </p:nvSpPr>
        <p:spPr>
          <a:xfrm>
            <a:off x="7086600" y="4379975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Fourchettes de marché selon la taille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4910327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34"/>
          <p:cNvSpPr txBox="1"/>
          <p:nvPr/>
        </p:nvSpPr>
        <p:spPr>
          <a:xfrm>
            <a:off x="1051560" y="4910327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Entretien (OPEX)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4910327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36"/>
          <p:cNvSpPr txBox="1"/>
          <p:nvPr/>
        </p:nvSpPr>
        <p:spPr>
          <a:xfrm>
            <a:off x="4709160" y="4910327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1,5 %/an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9440" y="4910327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38"/>
          <p:cNvSpPr txBox="1"/>
          <p:nvPr/>
        </p:nvSpPr>
        <p:spPr>
          <a:xfrm>
            <a:off x="7086600" y="4910327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Maintenance courante d'une installation PV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440679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40"/>
          <p:cNvSpPr txBox="1"/>
          <p:nvPr/>
        </p:nvSpPr>
        <p:spPr>
          <a:xfrm>
            <a:off x="1051560" y="5440679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Taux d'autoconsommation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440679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42"/>
          <p:cNvSpPr txBox="1"/>
          <p:nvPr/>
        </p:nvSpPr>
        <p:spPr>
          <a:xfrm>
            <a:off x="4709160" y="5440679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65 %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949440" y="5440679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44"/>
          <p:cNvSpPr txBox="1"/>
          <p:nvPr/>
        </p:nvSpPr>
        <p:spPr>
          <a:xfrm>
            <a:off x="7086600" y="5440679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Usage réaliste pour du tertiaire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indicateurs de rentabilité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19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2"/>
          <p:cNvSpPr/>
          <p:nvPr/>
        </p:nvSpPr>
        <p:spPr>
          <a:xfrm>
            <a:off x="45719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19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LCOE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9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Prix de revient</a:t>
            </a:r>
          </a:p>
        </p:txBody>
      </p:sp>
      <p:sp>
        <p:nvSpPr>
          <p:cNvPr id="20" name="TextBox 4"/>
          <p:cNvSpPr txBox="1"/>
          <p:nvPr/>
        </p:nvSpPr>
        <p:spPr>
          <a:xfrm>
            <a:off x="45719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Prix de revient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79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coûte 1 kWh que je produis. À comparer aux ~20 c du réseau.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5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6"/>
          <p:cNvSpPr/>
          <p:nvPr/>
        </p:nvSpPr>
        <p:spPr>
          <a:xfrm>
            <a:off x="333755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3755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Payback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5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Temps de retour</a:t>
            </a:r>
          </a:p>
        </p:txBody>
      </p:sp>
      <p:sp>
        <p:nvSpPr>
          <p:cNvPr id="22" name="TextBox 8"/>
          <p:cNvSpPr txBox="1"/>
          <p:nvPr/>
        </p:nvSpPr>
        <p:spPr>
          <a:xfrm>
            <a:off x="333755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Temps de retour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5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Le nombre d'années pour rembourser l'installation.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1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1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TRI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1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Rendement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1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ça rapporte par an, en %, comme un placement.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7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9827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VAN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7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Gain 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7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je gagne au final, en euros d'aujourd'hui.</a:t>
            </a:r>
          </a:p>
        </p:txBody>
      </p:sp>
      <p:sp>
        <p:nvSpPr>
          <p:cNvPr id="23" name="TextBox 11"/>
          <p:cNvSpPr txBox="1"/>
          <p:nvPr/>
        </p:nvSpPr>
        <p:spPr>
          <a:xfrm>
            <a:off x="621791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TRI</a:t>
            </a:r>
          </a:p>
        </p:txBody>
      </p:sp>
      <p:sp>
        <p:nvSpPr>
          <p:cNvPr id="24" name="TextBox 12"/>
          <p:cNvSpPr txBox="1"/>
          <p:nvPr/>
        </p:nvSpPr>
        <p:spPr>
          <a:xfrm>
            <a:off x="621791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Rendement</a:t>
            </a:r>
          </a:p>
        </p:txBody>
      </p:sp>
      <p:sp>
        <p:nvSpPr>
          <p:cNvPr id="25" name="TextBox 13"/>
          <p:cNvSpPr txBox="1"/>
          <p:nvPr/>
        </p:nvSpPr>
        <p:spPr>
          <a:xfrm>
            <a:off x="644651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ça rapporte par an, en %, comme un placement.</a:t>
            </a:r>
          </a:p>
        </p:txBody>
      </p:sp>
      <p:sp>
        <p:nvSpPr>
          <p:cNvPr id="26" name="Rounded Rectangle 14"/>
          <p:cNvSpPr/>
          <p:nvPr/>
        </p:nvSpPr>
        <p:spPr>
          <a:xfrm>
            <a:off x="909827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15"/>
          <p:cNvSpPr txBox="1"/>
          <p:nvPr/>
        </p:nvSpPr>
        <p:spPr>
          <a:xfrm>
            <a:off x="909827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VAN</a:t>
            </a:r>
          </a:p>
        </p:txBody>
      </p:sp>
      <p:sp>
        <p:nvSpPr>
          <p:cNvPr id="28" name="TextBox 16"/>
          <p:cNvSpPr txBox="1"/>
          <p:nvPr/>
        </p:nvSpPr>
        <p:spPr>
          <a:xfrm>
            <a:off x="909827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Gain total</a:t>
            </a:r>
          </a:p>
        </p:txBody>
      </p:sp>
      <p:sp>
        <p:nvSpPr>
          <p:cNvPr id="29" name="TextBox 17"/>
          <p:cNvSpPr txBox="1"/>
          <p:nvPr/>
        </p:nvSpPr>
        <p:spPr>
          <a:xfrm>
            <a:off x="932687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je gagne au final, en euros d'aujourd'hui.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0292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L'analyse : quatre cartes de France</a:t>
            </a:r>
          </a:p>
        </p:txBody>
      </p:sp>
      <p:pic>
        <p:nvPicPr>
          <p:cNvPr id="3" name="Picture 2" descr="carte_fa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371600"/>
            <a:ext cx="2568136" cy="2057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474720"/>
            <a:ext cx="31167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Production (kWh/kWc/an)</a:t>
            </a:r>
          </a:p>
        </p:txBody>
      </p:sp>
      <p:pic>
        <p:nvPicPr>
          <p:cNvPr id="5" name="Picture 4" descr="carte_lco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1371600"/>
            <a:ext cx="2524772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3474720"/>
            <a:ext cx="30734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Prix de revient — LCOE (c/kWh)</a:t>
            </a:r>
          </a:p>
        </p:txBody>
      </p:sp>
      <p:pic>
        <p:nvPicPr>
          <p:cNvPr id="7" name="Picture 6" descr="carte_payb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3931920"/>
            <a:ext cx="2553681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6035040"/>
            <a:ext cx="310232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Temps de retour (ans)</a:t>
            </a:r>
          </a:p>
        </p:txBody>
      </p:sp>
      <p:pic>
        <p:nvPicPr>
          <p:cNvPr id="9" name="Picture 8" descr="carte_tr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3931920"/>
            <a:ext cx="2507908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6035040"/>
            <a:ext cx="30565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Rendement — TRI (%)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6"/>
                </a:solidFill>
                <a:latin typeface="Calibri"/>
              </a:rPr>
              <a:t>Même message partout : production et rentabilité augmentent du Nord vers le Sud.</a:t>
            </a:r>
          </a:p>
        </p:txBody>
      </p:sp>
      <p:pic>
        <p:nvPicPr>
          <p:cNvPr id="12" name="Picture 2" descr="carte_fa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371600"/>
            <a:ext cx="2568136" cy="2057400"/>
          </a:xfrm>
          <a:prstGeom prst="rect">
            <a:avLst/>
          </a:prstGeom>
        </p:spPr>
      </p:pic>
      <p:sp>
        <p:nvSpPr>
          <p:cNvPr id="13" name="TextBox 3"/>
          <p:cNvSpPr txBox="1"/>
          <p:nvPr/>
        </p:nvSpPr>
        <p:spPr>
          <a:xfrm>
            <a:off x="1737360" y="3474720"/>
            <a:ext cx="31167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Production (kWh/kWc/an)</a:t>
            </a:r>
          </a:p>
        </p:txBody>
      </p:sp>
      <p:pic>
        <p:nvPicPr>
          <p:cNvPr id="14" name="Picture 4" descr="carte_lco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1371600"/>
            <a:ext cx="2524772" cy="2057400"/>
          </a:xfrm>
          <a:prstGeom prst="rect">
            <a:avLst/>
          </a:prstGeom>
        </p:spPr>
      </p:pic>
      <p:sp>
        <p:nvSpPr>
          <p:cNvPr id="15" name="TextBox 5"/>
          <p:cNvSpPr txBox="1"/>
          <p:nvPr/>
        </p:nvSpPr>
        <p:spPr>
          <a:xfrm>
            <a:off x="7406640" y="3474720"/>
            <a:ext cx="30734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Prix de revient — LCOE (c/kWh)</a:t>
            </a:r>
          </a:p>
        </p:txBody>
      </p:sp>
      <p:pic>
        <p:nvPicPr>
          <p:cNvPr id="16" name="Picture 6" descr="carte_payb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3931920"/>
            <a:ext cx="2553681" cy="2057400"/>
          </a:xfrm>
          <a:prstGeom prst="rect">
            <a:avLst/>
          </a:prstGeom>
        </p:spPr>
      </p:pic>
      <p:sp>
        <p:nvSpPr>
          <p:cNvPr id="17" name="TextBox 7"/>
          <p:cNvSpPr txBox="1"/>
          <p:nvPr/>
        </p:nvSpPr>
        <p:spPr>
          <a:xfrm>
            <a:off x="1737360" y="6035040"/>
            <a:ext cx="310232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Temps de retour (ans)</a:t>
            </a:r>
          </a:p>
        </p:txBody>
      </p:sp>
      <p:pic>
        <p:nvPicPr>
          <p:cNvPr id="18" name="Picture 8" descr="carte_tr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3931920"/>
            <a:ext cx="2507908" cy="2057400"/>
          </a:xfrm>
          <a:prstGeom prst="rect">
            <a:avLst/>
          </a:prstGeom>
        </p:spPr>
      </p:pic>
      <p:sp>
        <p:nvSpPr>
          <p:cNvPr id="19" name="TextBox 9"/>
          <p:cNvSpPr txBox="1"/>
          <p:nvPr/>
        </p:nvSpPr>
        <p:spPr>
          <a:xfrm>
            <a:off x="7406640" y="6035040"/>
            <a:ext cx="30565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Rendement — TRI (%)</a:t>
            </a:r>
          </a:p>
        </p:txBody>
      </p:sp>
      <p:sp>
        <p:nvSpPr>
          <p:cNvPr id="20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6"/>
                </a:solidFill>
                <a:latin typeface="Calibri"/>
              </a:rPr>
              <a:t>Même message partout : production et rentabilité augmentent du Nord vers le Sud.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 err="1">
                <a:solidFill>
                  <a:srgbClr val="12293D"/>
                </a:solidFill>
                <a:latin typeface="Cambria"/>
              </a:rPr>
              <a:t>Démonstration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: </a:t>
            </a:r>
            <a:r>
              <a:rPr sz="3000" b="1" dirty="0" err="1">
                <a:solidFill>
                  <a:srgbClr val="12293D"/>
                </a:solidFill>
                <a:latin typeface="Cambria"/>
              </a:rPr>
              <a:t>l'outil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</a:t>
            </a:r>
            <a:r>
              <a:rPr sz="3000" b="1" dirty="0" err="1">
                <a:solidFill>
                  <a:srgbClr val="12293D"/>
                </a:solidFill>
                <a:latin typeface="Cambria"/>
              </a:rPr>
              <a:t>interactif</a:t>
            </a:r>
            <a:endParaRPr sz="3000" b="1" dirty="0">
              <a:solidFill>
                <a:srgbClr val="12293D"/>
              </a:solidFill>
              <a:latin typeface="Cambri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60350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J'ai transformé l'analyse en une application web. On peut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endParaRPr sz="1500" b="0">
              <a:solidFill>
                <a:srgbClr val="222B36"/>
              </a:solidFill>
              <a:latin typeface="Calibr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explorer la carte de France, indicateur par indicateur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choisir le scénario (régime, puissance) — hypothèses fixes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consulter le détail d'un département et exporter les données.</a:t>
            </a:r>
          </a:p>
        </p:txBody>
      </p:sp>
      <p:sp>
        <p:nvSpPr>
          <p:cNvPr id="10" name="TextBox 2"/>
          <p:cNvSpPr txBox="1"/>
          <p:nvPr/>
        </p:nvSpPr>
        <p:spPr>
          <a:xfrm>
            <a:off x="914400" y="1691640"/>
            <a:ext cx="60350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dirty="0" err="1">
                <a:solidFill>
                  <a:srgbClr val="222B36"/>
                </a:solidFill>
                <a:latin typeface="Calibri"/>
              </a:rPr>
              <a:t>J'ai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transformé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l'analyse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en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une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application web. On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peut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endParaRPr sz="1500" b="0" dirty="0">
              <a:solidFill>
                <a:srgbClr val="222B36"/>
              </a:solidFill>
              <a:latin typeface="Calibr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dirty="0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explorer la carte de France,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indicateur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par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indicateur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dirty="0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choisir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le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scénario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(régime, puissance) —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hypothèses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fixes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dirty="0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consulter le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détail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d'un département et exporter les données.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23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B36"/>
                </a:solidFill>
                <a:latin typeface="Calibri"/>
              </a:rPr>
              <a:t>À tester en direct : </a:t>
            </a:r>
            <a:r>
              <a:rPr sz="1400" b="1">
                <a:solidFill>
                  <a:srgbClr val="F2A900"/>
                </a:solidFill>
                <a:latin typeface="Calibri"/>
              </a:rPr>
              <a:t>https://imeneee01-workshop-client-3-streamlit-app-kzifeo.streamlit.app/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Ce que l'analyse conclut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6–8 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920239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Rentable partout en France.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42316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E6EDF4"/>
                </a:solidFill>
                <a:latin typeface="Calibri"/>
              </a:rPr>
              <a:t>Temps de retour court, TRI ~14 % —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produire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coûte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2 à 3×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moins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cher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qu'acheter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au réseau.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17296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291839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+43 %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37559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Plus performant au Sud.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840479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Production et rentabilité augmentent vers le Sud, mais restent attractives partout.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459028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Autoconso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7548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Consommer plutôt que revendre.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525780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L'électricité qu'on évite d'acheter vaut plus que celle qu'on revend.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mbria"/>
              </a:rPr>
              <a:t>Merci de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Le solaire sur les toits d'entreprise est rentable partout en France — </a:t>
            </a:r>
            <a:r>
              <a:rPr sz="1600" b="1">
                <a:solidFill>
                  <a:srgbClr val="F2A900"/>
                </a:solidFill>
                <a:latin typeface="Calibri"/>
              </a:rPr>
              <a:t>et encore plus au Sud.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2A900"/>
                </a:solidFill>
                <a:latin typeface="Cambria"/>
              </a:rPr>
              <a:t>Place à vos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B2C9"/>
                </a:solidFill>
                <a:latin typeface="Calibri"/>
              </a:rPr>
              <a:t>Imene BELHOCINE   ·   Workshop client — Oxand   ·   MBA M2 Big Data &amp; 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966</Words>
  <Application>Microsoft Office PowerPoint</Application>
  <PresentationFormat>Grand écran</PresentationFormat>
  <Paragraphs>160</Paragraphs>
  <Slides>13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Imene BELHOCINE</cp:lastModifiedBy>
  <cp:revision>1</cp:revision>
  <dcterms:created xsi:type="dcterms:W3CDTF">2013-01-27T09:14:16Z</dcterms:created>
  <dcterms:modified xsi:type="dcterms:W3CDTF">2026-07-08T09:01:30Z</dcterms:modified>
  <cp:category/>
</cp:coreProperties>
</file>