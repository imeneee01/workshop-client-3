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8" d="100"/>
          <a:sy n="48" d="100"/>
        </p:scale>
        <p:origin x="53" y="97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mene BELHOCINE" userId="e37e8402-5311-406e-9548-87222291f0f9" providerId="ADAL" clId="{D63CC582-91E3-4D3B-90F1-775970AA34C9}"/>
    <pc:docChg chg="undo custSel delSld modSld">
      <pc:chgData name="Imene BELHOCINE" userId="e37e8402-5311-406e-9548-87222291f0f9" providerId="ADAL" clId="{D63CC582-91E3-4D3B-90F1-775970AA34C9}" dt="2026-07-07T09:43:11.451" v="115" actId="20577"/>
      <pc:docMkLst>
        <pc:docMk/>
      </pc:docMkLst>
      <pc:sldChg chg="modSp mod">
        <pc:chgData name="Imene BELHOCINE" userId="e37e8402-5311-406e-9548-87222291f0f9" providerId="ADAL" clId="{D63CC582-91E3-4D3B-90F1-775970AA34C9}" dt="2026-07-04T23:44:04.690" v="93" actId="20577"/>
        <pc:sldMkLst>
          <pc:docMk/>
          <pc:sldMk cId="0" sldId="256"/>
        </pc:sldMkLst>
        <pc:spChg chg="mod">
          <ac:chgData name="Imene BELHOCINE" userId="e37e8402-5311-406e-9548-87222291f0f9" providerId="ADAL" clId="{D63CC582-91E3-4D3B-90F1-775970AA34C9}" dt="2026-07-04T23:44:04.690" v="93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Imene BELHOCINE" userId="e37e8402-5311-406e-9548-87222291f0f9" providerId="ADAL" clId="{D63CC582-91E3-4D3B-90F1-775970AA34C9}" dt="2026-07-07T09:43:11.451" v="115" actId="20577"/>
        <pc:sldMkLst>
          <pc:docMk/>
          <pc:sldMk cId="0" sldId="257"/>
        </pc:sldMkLst>
        <pc:spChg chg="mod">
          <ac:chgData name="Imene BELHOCINE" userId="e37e8402-5311-406e-9548-87222291f0f9" providerId="ADAL" clId="{D63CC582-91E3-4D3B-90F1-775970AA34C9}" dt="2026-07-04T23:44:15.286" v="96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7T09:43:11.451" v="115" actId="20577"/>
          <ac:spMkLst>
            <pc:docMk/>
            <pc:sldMk cId="0" sldId="257"/>
            <ac:spMk id="5" creationId="{00000000-0000-0000-0000-000000000000}"/>
          </ac:spMkLst>
        </pc:spChg>
      </pc:sldChg>
      <pc:sldChg chg="delSp mod">
        <pc:chgData name="Imene BELHOCINE" userId="e37e8402-5311-406e-9548-87222291f0f9" providerId="ADAL" clId="{D63CC582-91E3-4D3B-90F1-775970AA34C9}" dt="2026-07-04T23:39:53.086" v="0" actId="478"/>
        <pc:sldMkLst>
          <pc:docMk/>
          <pc:sldMk cId="0" sldId="260"/>
        </pc:sldMkLst>
      </pc:sldChg>
      <pc:sldChg chg="modSp mod">
        <pc:chgData name="Imene BELHOCINE" userId="e37e8402-5311-406e-9548-87222291f0f9" providerId="ADAL" clId="{D63CC582-91E3-4D3B-90F1-775970AA34C9}" dt="2026-07-04T23:40:07.409" v="6" actId="20577"/>
        <pc:sldMkLst>
          <pc:docMk/>
          <pc:sldMk cId="0" sldId="261"/>
        </pc:sldMkLst>
        <pc:spChg chg="mod">
          <ac:chgData name="Imene BELHOCINE" userId="e37e8402-5311-406e-9548-87222291f0f9" providerId="ADAL" clId="{D63CC582-91E3-4D3B-90F1-775970AA34C9}" dt="2026-07-04T23:40:07.409" v="6" actId="20577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Imene BELHOCINE" userId="e37e8402-5311-406e-9548-87222291f0f9" providerId="ADAL" clId="{D63CC582-91E3-4D3B-90F1-775970AA34C9}" dt="2026-07-04T23:41:02.539" v="43" actId="1037"/>
        <pc:sldMkLst>
          <pc:docMk/>
          <pc:sldMk cId="0" sldId="262"/>
        </pc:sldMkLst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5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7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8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0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1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2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4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5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6" creationId="{00000000-0000-0000-0000-000000000000}"/>
          </ac:spMkLst>
        </pc:spChg>
        <pc:spChg chg="mod">
          <ac:chgData name="Imene BELHOCINE" userId="e37e8402-5311-406e-9548-87222291f0f9" providerId="ADAL" clId="{D63CC582-91E3-4D3B-90F1-775970AA34C9}" dt="2026-07-04T23:41:02.539" v="43" actId="1037"/>
          <ac:spMkLst>
            <pc:docMk/>
            <pc:sldMk cId="0" sldId="262"/>
            <ac:spMk id="18" creationId="{00000000-0000-0000-0000-000000000000}"/>
          </ac:spMkLst>
        </pc:spChg>
      </pc:sldChg>
      <pc:sldChg chg="modSp mod">
        <pc:chgData name="Imene BELHOCINE" userId="e37e8402-5311-406e-9548-87222291f0f9" providerId="ADAL" clId="{D63CC582-91E3-4D3B-90F1-775970AA34C9}" dt="2026-07-04T23:42:02.113" v="53" actId="20577"/>
        <pc:sldMkLst>
          <pc:docMk/>
          <pc:sldMk cId="0" sldId="263"/>
        </pc:sldMkLst>
        <pc:spChg chg="mod">
          <ac:chgData name="Imene BELHOCINE" userId="e37e8402-5311-406e-9548-87222291f0f9" providerId="ADAL" clId="{D63CC582-91E3-4D3B-90F1-775970AA34C9}" dt="2026-07-04T23:42:02.113" v="53" actId="20577"/>
          <ac:spMkLst>
            <pc:docMk/>
            <pc:sldMk cId="0" sldId="263"/>
            <ac:spMk id="11" creationId="{00000000-0000-0000-0000-000000000000}"/>
          </ac:spMkLst>
        </pc:spChg>
      </pc:sldChg>
      <pc:sldChg chg="delSp mod">
        <pc:chgData name="Imene BELHOCINE" userId="e37e8402-5311-406e-9548-87222291f0f9" providerId="ADAL" clId="{D63CC582-91E3-4D3B-90F1-775970AA34C9}" dt="2026-07-04T23:42:46.952" v="59" actId="478"/>
        <pc:sldMkLst>
          <pc:docMk/>
          <pc:sldMk cId="0" sldId="264"/>
        </pc:sldMkLst>
      </pc:sldChg>
      <pc:sldChg chg="modSp mod">
        <pc:chgData name="Imene BELHOCINE" userId="e37e8402-5311-406e-9548-87222291f0f9" providerId="ADAL" clId="{D63CC582-91E3-4D3B-90F1-775970AA34C9}" dt="2026-07-04T23:43:43.741" v="76" actId="20577"/>
        <pc:sldMkLst>
          <pc:docMk/>
          <pc:sldMk cId="0" sldId="268"/>
        </pc:sldMkLst>
        <pc:spChg chg="mod">
          <ac:chgData name="Imene BELHOCINE" userId="e37e8402-5311-406e-9548-87222291f0f9" providerId="ADAL" clId="{D63CC582-91E3-4D3B-90F1-775970AA34C9}" dt="2026-07-04T23:43:43.741" v="76" actId="20577"/>
          <ac:spMkLst>
            <pc:docMk/>
            <pc:sldMk cId="0" sldId="268"/>
            <ac:spMk id="6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9160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 presenter, annoncer le titre et la question. Client : Oxand. Remplacer Prénom NOM +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Poser QUI est le client : Oxand, gestion du bati, outil Simeo (economies d'energie apres renovation).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manque : Simeo ne couvre pas la production locale (solaire). Le besoin = evaluer l'interet du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Definir le besoin en objectif precis : production + rentabilite par departement. Rappeler le perimetre. Ce n'est pas construire Simeo, mais defricher.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Raconter la demarche en 4 temps. Mentionner la reproductibilite.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Point de credibilite : reel (PVGIS, carte) / hypothese (couts, tarifs) / calcule (rentabilite).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Traduire chaque indicateur en une phrase simple. Donner l'ordre de grandeur si on te le demande (LCOE ~8c, payback 6-8 ans, TRI ~14%, VAN +130k).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Mes 4 cartes issues du notebook. Toutes montrent le meme gradient Nord-Sud. Scenario : autoconsommation, installation 100 kWc.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Faire la DEMO en direct : bouger un scenario, montrer la carte. Coller l'URL avant.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Schema recapitulatif : de la question aux conclusions, avec les donnees, le calcul et les indicateurs. Sert de fil rouge / recap a la fin de la partie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 moment cle. 3 conclusions appuyees sur mes chiffres reels. Ralentir.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Conclure sur le message cle puis ouvrir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Workshop client  ·  MBA M2 Big Data &amp;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Potentiel photovoltaïque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4200" b="1">
                <a:solidFill>
                  <a:srgbClr val="FFFFFF"/>
                </a:solidFill>
                <a:latin typeface="Cambria"/>
              </a:rPr>
              <a:t>des toitures tertiaires en France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ADCFC"/>
                </a:solidFill>
                <a:latin typeface="Calibri"/>
              </a:rPr>
              <a:t>Où, et à quelles conditions, est-ce rentable ? — une analyse par département.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212080"/>
            <a:ext cx="10332720" cy="4539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0" dirty="0">
                <a:solidFill>
                  <a:srgbClr val="FFFFFF"/>
                </a:solidFill>
                <a:latin typeface="Calibri"/>
              </a:rPr>
              <a:t>Client : Oxand — </a:t>
            </a:r>
            <a:r>
              <a:rPr sz="1400" b="0" dirty="0" err="1">
                <a:solidFill>
                  <a:srgbClr val="FFFFFF"/>
                </a:solidFill>
                <a:latin typeface="Calibri"/>
              </a:rPr>
              <a:t>logiciel</a:t>
            </a:r>
            <a:r>
              <a:rPr sz="1400" b="0" dirty="0">
                <a:solidFill>
                  <a:srgbClr val="FFFFFF"/>
                </a:solidFill>
                <a:latin typeface="Calibri"/>
              </a:rPr>
              <a:t> Simeo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lang="fr-FR" sz="1300" b="0" dirty="0">
                <a:solidFill>
                  <a:srgbClr val="9EB2C9"/>
                </a:solidFill>
                <a:latin typeface="Calibri"/>
              </a:rPr>
              <a:t>Imene BELHOCINE </a:t>
            </a:r>
            <a:r>
              <a:rPr sz="1300" b="0" dirty="0">
                <a:solidFill>
                  <a:srgbClr val="9EB2C9"/>
                </a:solidFill>
                <a:latin typeface="Calibri"/>
              </a:rPr>
              <a:t>·   Juillet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>
                <a:solidFill>
                  <a:srgbClr val="12293D"/>
                </a:solidFill>
                <a:latin typeface="Cambria"/>
              </a:rPr>
              <a:t>L</a:t>
            </a:r>
            <a:r>
              <a:rPr lang="fr-FR" sz="3000" b="1" dirty="0">
                <a:solidFill>
                  <a:srgbClr val="12293D"/>
                </a:solidFill>
                <a:latin typeface="Cambria"/>
              </a:rPr>
              <a:t>e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client : 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40080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Oxand — gestion du patrimoine bâti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Anticiper les coûts, rénover au bon moment, prolonger la durée de vie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Simeo — son logiciel : simule les gains d'une rénovation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→ le point de départ de mon projet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0" y="1691640"/>
            <a:ext cx="3566160" cy="3291840"/>
          </a:xfrm>
          <a:prstGeom prst="round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01000" y="2011680"/>
            <a:ext cx="292608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dirty="0">
                <a:solidFill>
                  <a:srgbClr val="FFFFFF"/>
                </a:solidFill>
                <a:latin typeface="Cambria"/>
              </a:rPr>
              <a:t>Simeo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 sz="2200" b="1" dirty="0">
              <a:solidFill>
                <a:srgbClr val="FFFFFF"/>
              </a:solidFill>
              <a:latin typeface="Cambria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dirty="0" err="1">
                <a:solidFill>
                  <a:srgbClr val="E6EDF4"/>
                </a:solidFill>
                <a:latin typeface="Calibri"/>
              </a:rPr>
              <a:t>L'outil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E6EDF4"/>
                </a:solidFill>
                <a:latin typeface="Calibri"/>
              </a:rPr>
              <a:t>d'Oxand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pour </a:t>
            </a:r>
            <a:r>
              <a:rPr lang="fr-FR" sz="1400" b="0" dirty="0">
                <a:solidFill>
                  <a:srgbClr val="E6EDF4"/>
                </a:solidFill>
                <a:latin typeface="Calibri"/>
              </a:rPr>
              <a:t>chiffrer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les </a:t>
            </a:r>
            <a:r>
              <a:rPr sz="1400" b="0" dirty="0" err="1">
                <a:solidFill>
                  <a:srgbClr val="E6EDF4"/>
                </a:solidFill>
                <a:latin typeface="Calibri"/>
              </a:rPr>
              <a:t>économies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E6EDF4"/>
                </a:solidFill>
                <a:latin typeface="Calibri"/>
              </a:rPr>
              <a:t>d'énergie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E6EDF4"/>
                </a:solidFill>
                <a:latin typeface="Calibri"/>
              </a:rPr>
              <a:t>liées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 à la </a:t>
            </a:r>
            <a:r>
              <a:rPr sz="1400" b="0" dirty="0" err="1">
                <a:solidFill>
                  <a:srgbClr val="E6EDF4"/>
                </a:solidFill>
                <a:latin typeface="Calibri"/>
              </a:rPr>
              <a:t>rénovation</a:t>
            </a:r>
            <a:r>
              <a:rPr sz="1400" b="0" dirty="0">
                <a:solidFill>
                  <a:srgbClr val="E6EDF4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 besoin d'Oxand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0584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Simeo sait chiffrer : consommer moins (isolation, ventilation)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Pas encore : produire sa propre énergie → le solaire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700">
                <a:solidFill>
                  <a:srgbClr val="F2A900"/>
                </a:solidFill>
                <a:latin typeface="Calibri"/>
              </a:rPr>
              <a:t>•  </a:t>
            </a:r>
            <a:r>
              <a:rPr sz="1700">
                <a:solidFill>
                  <a:srgbClr val="222B36"/>
                </a:solidFill>
                <a:latin typeface="Calibri"/>
              </a:rPr>
              <a:t>Pourquoi maintenant : obligations (loi APER) + prix des panneaux en baisse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840480"/>
            <a:ext cx="10332720" cy="137160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7C7B"/>
                </a:solidFill>
                <a:latin typeface="Calibri"/>
              </a:rPr>
              <a:t>Le besoin  </a:t>
            </a:r>
            <a:r>
              <a:rPr sz="1500" b="0">
                <a:solidFill>
                  <a:srgbClr val="222B36"/>
                </a:solidFill>
                <a:latin typeface="Calibri"/>
              </a:rPr>
              <a:t>— aider Oxand à savoir si le solaire en toiture tertiaire vaut le coup, pour préparer son intégration future dans Simeo.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Définition du besoin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00200"/>
            <a:ext cx="1024128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600">
                <a:solidFill>
                  <a:srgbClr val="F2A900"/>
                </a:solidFill>
                <a:latin typeface="Calibri"/>
              </a:rPr>
              <a:t>•  </a:t>
            </a:r>
            <a:r>
              <a:rPr sz="1600">
                <a:solidFill>
                  <a:srgbClr val="222B36"/>
                </a:solidFill>
                <a:latin typeface="Calibri"/>
              </a:rPr>
              <a:t>Objectif : estimer production + rentabilité, par département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b="1" sz="1600">
                <a:solidFill>
                  <a:srgbClr val="F2A900"/>
                </a:solidFill>
                <a:latin typeface="Calibri"/>
              </a:rPr>
              <a:t>•  </a:t>
            </a:r>
            <a:r>
              <a:rPr sz="1600">
                <a:solidFill>
                  <a:srgbClr val="222B36"/>
                </a:solidFill>
                <a:latin typeface="Calibri"/>
              </a:rPr>
              <a:t>Département par département → voir les écarts Nord / Sud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ZONE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France métropolitaine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MAILLE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le département (~96)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3703320"/>
            <a:ext cx="3383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486"/>
                </a:solidFill>
                <a:latin typeface="Calibri"/>
              </a:rPr>
              <a:t>CIBLE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4069080"/>
            <a:ext cx="33832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293D"/>
                </a:solidFill>
                <a:latin typeface="Cambria"/>
              </a:rPr>
              <a:t>toitures tertiaires (9–500 kWc)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10332720" cy="105156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523036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B36"/>
                </a:solidFill>
                <a:latin typeface="Calibri"/>
              </a:rPr>
              <a:t>Le projet caractérise le « terrain de jeu » — il ne construit pas le module Simeo.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Comment j'ai procédé</a:t>
            </a:r>
          </a:p>
        </p:txBody>
      </p:sp>
      <p:sp>
        <p:nvSpPr>
          <p:cNvPr id="3" name="Oval 2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Mesurer le soleil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Données officielles PVGIS, pour chaque département.</a:t>
            </a:r>
          </a:p>
        </p:txBody>
      </p:sp>
      <p:sp>
        <p:nvSpPr>
          <p:cNvPr id="7" name="Chevron 6"/>
          <p:cNvSpPr/>
          <p:nvPr/>
        </p:nvSpPr>
        <p:spPr>
          <a:xfrm>
            <a:off x="2999232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502152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2152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152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Chiffrer coûts &amp; revenus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Investissement, entretien, électricité, sur 25 ans.</a:t>
            </a:r>
          </a:p>
        </p:txBody>
      </p:sp>
      <p:sp>
        <p:nvSpPr>
          <p:cNvPr id="12" name="Chevron 11"/>
          <p:cNvSpPr/>
          <p:nvPr/>
        </p:nvSpPr>
        <p:spPr>
          <a:xfrm>
            <a:off x="5586984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089904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89904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9904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En déduire la rentabilité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9904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Prix de revient, temps de retour, rendement, gain.</a:t>
            </a:r>
          </a:p>
        </p:txBody>
      </p:sp>
      <p:sp>
        <p:nvSpPr>
          <p:cNvPr id="17" name="Chevron 16"/>
          <p:cNvSpPr/>
          <p:nvPr/>
        </p:nvSpPr>
        <p:spPr>
          <a:xfrm>
            <a:off x="8174736" y="2286000"/>
            <a:ext cx="365760" cy="384048"/>
          </a:xfrm>
          <a:prstGeom prst="chevr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677656" y="2194560"/>
            <a:ext cx="548640" cy="548640"/>
          </a:xfrm>
          <a:prstGeom prst="ellipse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77656" y="219456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77656" y="2971800"/>
            <a:ext cx="22677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2293D"/>
                </a:solidFill>
                <a:latin typeface="Cambria"/>
              </a:rPr>
              <a:t>Rendre lisible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77656" y="3703320"/>
            <a:ext cx="22677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Une cartographie + un outil interactif.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24128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500" dirty="0">
                <a:solidFill>
                  <a:srgbClr val="222B36"/>
                </a:solidFill>
                <a:latin typeface="Calibri"/>
              </a:rPr>
              <a:t>On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distingue </a:t>
            </a:r>
            <a:r>
              <a:rPr sz="1500" b="0" dirty="0" err="1">
                <a:solidFill>
                  <a:srgbClr val="222B36"/>
                </a:solidFill>
                <a:latin typeface="Calibri"/>
              </a:rPr>
              <a:t>clairement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les </a:t>
            </a:r>
            <a:r>
              <a:rPr sz="1500" b="1" dirty="0">
                <a:solidFill>
                  <a:srgbClr val="0E7C7B"/>
                </a:solidFill>
                <a:latin typeface="Calibri"/>
              </a:rPr>
              <a:t>faits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, les </a:t>
            </a:r>
            <a:r>
              <a:rPr sz="1500" b="1" dirty="0" err="1">
                <a:solidFill>
                  <a:srgbClr val="F2A900"/>
                </a:solidFill>
                <a:latin typeface="Calibri"/>
              </a:rPr>
              <a:t>hypothèses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 et les </a:t>
            </a:r>
            <a:r>
              <a:rPr sz="1500" b="1" dirty="0" err="1">
                <a:solidFill>
                  <a:srgbClr val="0E7C7B"/>
                </a:solidFill>
                <a:latin typeface="Calibri"/>
              </a:rPr>
              <a:t>calculs</a:t>
            </a:r>
            <a:r>
              <a:rPr sz="1500" b="0" dirty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512064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286000"/>
            <a:ext cx="384048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35661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D'où elle vient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0" y="2286000"/>
            <a:ext cx="1371600" cy="457200"/>
          </a:xfrm>
          <a:prstGeom prst="rect">
            <a:avLst/>
          </a:prstGeom>
          <a:solidFill>
            <a:srgbClr val="122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12680" y="2286000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Nature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743200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4320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 soleil (production par département)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743200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743200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Source officielle PVGIS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875520" y="2743200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12680" y="2743200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310128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31012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carte des départements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310128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72200" y="3310128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Fichier géographique officiel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3310128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12680" y="3310128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Réel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877056"/>
            <a:ext cx="512064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1560" y="3877056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Les coûts et les tarifs de l'électricité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35040" y="3877056"/>
            <a:ext cx="384048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72200" y="3877056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Estimations de la note de cadrage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0" y="3877056"/>
            <a:ext cx="1371600" cy="566928"/>
          </a:xfrm>
          <a:prstGeom prst="rect">
            <a:avLst/>
          </a:prstGeom>
          <a:solidFill>
            <a:srgbClr val="F5F8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12680" y="3877056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2A900"/>
                </a:solidFill>
                <a:latin typeface="Calibri"/>
              </a:rPr>
              <a:t>Hypothèse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43983"/>
            <a:ext cx="51206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1560" y="4443983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La rentabilité (prix de revient, gain…)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4443983"/>
            <a:ext cx="38404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72200" y="4443983"/>
            <a:ext cx="3566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22B36"/>
                </a:solidFill>
                <a:latin typeface="Calibri"/>
              </a:rPr>
              <a:t>Mon modèle de calcul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875520" y="4443983"/>
            <a:ext cx="13716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12680" y="4443983"/>
            <a:ext cx="10972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C7B"/>
                </a:solidFill>
                <a:latin typeface="Calibri"/>
              </a:rPr>
              <a:t>Calculé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06440"/>
            <a:ext cx="10241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486"/>
                </a:solidFill>
                <a:latin typeface="Calibri"/>
              </a:rPr>
              <a:t>Le soleil est une donnée réelle sur les 96 départements ; ce qui est supposé est étiqueté comme tel.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Les indicateurs de rentabilité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82602" y="219455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82602" y="25146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LCOE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2602" y="3246119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Prix de revient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1202" y="379476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coûte 1 kWh que je produis. À comparer aux ~20 c du réseau.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62962" y="219455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62962" y="25146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Payback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62962" y="3246119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Temps de retour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1562" y="379476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Le nombre d'années pour rembourser l'installation.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3322" y="219455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43322" y="25146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TRI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322" y="3246119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Rendement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1922" y="379476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22B36"/>
                </a:solidFill>
                <a:latin typeface="Calibri"/>
              </a:rPr>
              <a:t>Ce que ça rapporte par an, en %, comme un placement.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23682" y="2194559"/>
            <a:ext cx="2606040" cy="2926080"/>
          </a:xfrm>
          <a:prstGeom prst="roundRect">
            <a:avLst/>
          </a:prstGeom>
          <a:solidFill>
            <a:srgbClr val="F5F8F7"/>
          </a:solidFill>
          <a:ln>
            <a:noFill/>
          </a:ln>
          <a:effectLst>
            <a:outerShdw blurRad="60000" dist="20000" dir="5400000" rotWithShape="0">
              <a:srgbClr val="12293D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23682" y="251460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7C7B"/>
                </a:solidFill>
                <a:latin typeface="Cambria"/>
              </a:rPr>
              <a:t>VAN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3682" y="3246119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293D"/>
                </a:solidFill>
                <a:latin typeface="Cambria"/>
              </a:rPr>
              <a:t>Gain total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2282" y="3794760"/>
            <a:ext cx="2148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222B36"/>
                </a:solidFill>
                <a:latin typeface="Calibri"/>
              </a:rPr>
              <a:t>Ce </a:t>
            </a:r>
            <a:r>
              <a:rPr sz="1200" b="0" dirty="0" err="1">
                <a:solidFill>
                  <a:srgbClr val="222B36"/>
                </a:solidFill>
                <a:latin typeface="Calibri"/>
              </a:rPr>
              <a:t>que</a:t>
            </a:r>
            <a:r>
              <a:rPr sz="1200" b="0" dirty="0">
                <a:solidFill>
                  <a:srgbClr val="222B36"/>
                </a:solidFill>
                <a:latin typeface="Calibri"/>
              </a:rPr>
              <a:t> je </a:t>
            </a:r>
            <a:r>
              <a:rPr sz="1200" b="0" dirty="0" err="1">
                <a:solidFill>
                  <a:srgbClr val="222B36"/>
                </a:solidFill>
                <a:latin typeface="Calibri"/>
              </a:rPr>
              <a:t>gagne</a:t>
            </a:r>
            <a:r>
              <a:rPr sz="1200" b="0" dirty="0">
                <a:solidFill>
                  <a:srgbClr val="222B36"/>
                </a:solidFill>
                <a:latin typeface="Calibri"/>
              </a:rPr>
              <a:t> au final, </a:t>
            </a:r>
            <a:r>
              <a:rPr sz="1200" b="0" dirty="0" err="1">
                <a:solidFill>
                  <a:srgbClr val="222B36"/>
                </a:solidFill>
                <a:latin typeface="Calibri"/>
              </a:rPr>
              <a:t>en</a:t>
            </a:r>
            <a:r>
              <a:rPr sz="1200" b="0" dirty="0">
                <a:solidFill>
                  <a:srgbClr val="222B36"/>
                </a:solidFill>
                <a:latin typeface="Calibri"/>
              </a:rPr>
              <a:t> euros </a:t>
            </a:r>
            <a:r>
              <a:rPr sz="1200" b="0" dirty="0" err="1">
                <a:solidFill>
                  <a:srgbClr val="222B36"/>
                </a:solidFill>
                <a:latin typeface="Calibri"/>
              </a:rPr>
              <a:t>d'aujourd'hui</a:t>
            </a:r>
            <a:r>
              <a:rPr sz="1200" b="0" dirty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0292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 dirty="0" err="1">
                <a:solidFill>
                  <a:srgbClr val="12293D"/>
                </a:solidFill>
                <a:latin typeface="Cambria"/>
              </a:rPr>
              <a:t>L'analyse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: quatre </a:t>
            </a:r>
            <a:r>
              <a:rPr sz="3000" b="1" dirty="0" err="1">
                <a:solidFill>
                  <a:srgbClr val="12293D"/>
                </a:solidFill>
                <a:latin typeface="Cambria"/>
              </a:rPr>
              <a:t>cartes</a:t>
            </a:r>
            <a:r>
              <a:rPr sz="3000" b="1" dirty="0">
                <a:solidFill>
                  <a:srgbClr val="12293D"/>
                </a:solidFill>
                <a:latin typeface="Cambria"/>
              </a:rPr>
              <a:t> de France</a:t>
            </a:r>
          </a:p>
        </p:txBody>
      </p:sp>
      <p:pic>
        <p:nvPicPr>
          <p:cNvPr id="3" name="Picture 2" descr="carte_facteu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1371600"/>
            <a:ext cx="2568136" cy="2057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37360" y="3474720"/>
            <a:ext cx="3116776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Production (kWh/kWc/an)</a:t>
            </a:r>
          </a:p>
        </p:txBody>
      </p:sp>
      <p:pic>
        <p:nvPicPr>
          <p:cNvPr id="5" name="Picture 4" descr="carte_lco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0960" y="1371600"/>
            <a:ext cx="2524772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3474720"/>
            <a:ext cx="30734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Prix de revient — LCOE (c/kWh)</a:t>
            </a:r>
          </a:p>
        </p:txBody>
      </p:sp>
      <p:pic>
        <p:nvPicPr>
          <p:cNvPr id="7" name="Picture 6" descr="carte_payb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1680" y="3931920"/>
            <a:ext cx="2553681" cy="2057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6035040"/>
            <a:ext cx="3102321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Temps de retour (ans)</a:t>
            </a:r>
          </a:p>
        </p:txBody>
      </p:sp>
      <p:pic>
        <p:nvPicPr>
          <p:cNvPr id="9" name="Picture 8" descr="carte_tr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0960" y="3931920"/>
            <a:ext cx="2507908" cy="2057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6035040"/>
            <a:ext cx="30565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2293D"/>
                </a:solidFill>
                <a:latin typeface="Calibri"/>
              </a:rPr>
              <a:t>Rendement — TRI (%)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dirty="0" err="1">
                <a:solidFill>
                  <a:srgbClr val="647486"/>
                </a:solidFill>
                <a:latin typeface="Calibri"/>
              </a:rPr>
              <a:t>Même</a:t>
            </a:r>
            <a:r>
              <a:rPr sz="1200" b="0" dirty="0">
                <a:solidFill>
                  <a:srgbClr val="647486"/>
                </a:solidFill>
                <a:latin typeface="Calibri"/>
              </a:rPr>
              <a:t> </a:t>
            </a:r>
            <a:r>
              <a:rPr lang="fr-FR" sz="1200" b="0" dirty="0">
                <a:solidFill>
                  <a:srgbClr val="647486"/>
                </a:solidFill>
                <a:latin typeface="Calibri"/>
              </a:rPr>
              <a:t>scenario</a:t>
            </a:r>
            <a:r>
              <a:rPr sz="1200" b="0" dirty="0">
                <a:solidFill>
                  <a:srgbClr val="647486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47486"/>
                </a:solidFill>
                <a:latin typeface="Calibri"/>
              </a:rPr>
              <a:t>partout</a:t>
            </a:r>
            <a:r>
              <a:rPr sz="1200" b="0" dirty="0">
                <a:solidFill>
                  <a:srgbClr val="647486"/>
                </a:solidFill>
                <a:latin typeface="Calibri"/>
              </a:rPr>
              <a:t> : production et </a:t>
            </a:r>
            <a:r>
              <a:rPr sz="1200" b="0" dirty="0" err="1">
                <a:solidFill>
                  <a:srgbClr val="647486"/>
                </a:solidFill>
                <a:latin typeface="Calibri"/>
              </a:rPr>
              <a:t>rentabilité</a:t>
            </a:r>
            <a:r>
              <a:rPr sz="1200" b="0" dirty="0">
                <a:solidFill>
                  <a:srgbClr val="647486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647486"/>
                </a:solidFill>
                <a:latin typeface="Calibri"/>
              </a:rPr>
              <a:t>augmentent</a:t>
            </a:r>
            <a:r>
              <a:rPr sz="1200" b="0" dirty="0">
                <a:solidFill>
                  <a:srgbClr val="647486"/>
                </a:solidFill>
                <a:latin typeface="Calibri"/>
              </a:rPr>
              <a:t> du Nord vers le Sud.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64008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Démonstration : l'outil interactif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91640"/>
            <a:ext cx="6035040" cy="3200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J'ai transformé l'analyse en une application web. On peut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endParaRPr sz="1500" b="0">
              <a:solidFill>
                <a:srgbClr val="222B36"/>
              </a:solidFill>
              <a:latin typeface="Calibri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explorer la carte de France, indicateur par indicateur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choisir le scénario (régime, puissance) — hypothèses fixes ;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1">
                <a:solidFill>
                  <a:srgbClr val="F2A900"/>
                </a:solidFill>
                <a:latin typeface="Calibri"/>
              </a:rPr>
              <a:t>•  </a:t>
            </a:r>
            <a:r>
              <a:rPr sz="1450" b="0">
                <a:solidFill>
                  <a:srgbClr val="222B36"/>
                </a:solidFill>
                <a:latin typeface="Calibri"/>
              </a:rPr>
              <a:t>consulter le détail d'un département et exporter les données.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2293D"/>
                </a:solidFill>
                <a:latin typeface="Cambria"/>
              </a:rPr>
              <a:t>La démarche, en un schéma</a:t>
            </a:r>
          </a:p>
        </p:txBody>
      </p:sp>
      <p:pic>
        <p:nvPicPr>
          <p:cNvPr id="3" name="Picture 2" descr="schema-comple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2881" y="1234440"/>
            <a:ext cx="850593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68580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Ce que l'analyse conclut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6–8 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0" y="192023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Rentable partout en France.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42316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Temps de retour court, TRI ~14 % — produire coûte 2 à 3× moins cher qu'acheter au réseau.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317296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291839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+43 %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337559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Plus performant au Sud.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3840479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Production et rentabilité augmentent vers le Sud, mais restent attractives partout.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4590288"/>
            <a:ext cx="7863840" cy="15240"/>
          </a:xfrm>
          <a:prstGeom prst="rect">
            <a:avLst/>
          </a:prstGeom>
          <a:solidFill>
            <a:srgbClr val="2A4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23774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2A900"/>
                </a:solidFill>
                <a:latin typeface="Cambria"/>
              </a:rPr>
              <a:t>Autoconso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47548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mbria"/>
              </a:rPr>
              <a:t>Consommer plutôt que revendre.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5257800"/>
            <a:ext cx="7863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E6EDF4"/>
                </a:solidFill>
                <a:latin typeface="Calibri"/>
              </a:rPr>
              <a:t>L'électricité qu'on évite d'acheter vaut plus que celle qu'on revend.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2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Cambria"/>
              </a:rPr>
              <a:t>Merci de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Le solaire sur les toits d'entreprise est rentable partout en France — </a:t>
            </a:r>
            <a:r>
              <a:rPr sz="1600" b="1">
                <a:solidFill>
                  <a:srgbClr val="F2A900"/>
                </a:solidFill>
                <a:latin typeface="Calibri"/>
              </a:rPr>
              <a:t>et encore plus au Sud.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2A900"/>
                </a:solidFill>
                <a:latin typeface="Cambria"/>
              </a:rPr>
              <a:t>Place à vos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33272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fr-FR" sz="1200" b="0" dirty="0">
                <a:solidFill>
                  <a:srgbClr val="9EB2C9"/>
                </a:solidFill>
                <a:latin typeface="Calibri"/>
              </a:rPr>
              <a:t>Imene BELHOCINE </a:t>
            </a:r>
            <a:r>
              <a:rPr sz="1200" b="0" dirty="0">
                <a:solidFill>
                  <a:srgbClr val="9EB2C9"/>
                </a:solidFill>
                <a:latin typeface="Calibri"/>
              </a:rPr>
              <a:t>·   Workshop client — Oxand   ·   MBA M2 Big Data &amp;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926</Words>
  <Application>Microsoft Office PowerPoint</Application>
  <PresentationFormat>Grand écran</PresentationFormat>
  <Paragraphs>108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Imene BELHOCINE</cp:lastModifiedBy>
  <cp:revision>1</cp:revision>
  <dcterms:created xsi:type="dcterms:W3CDTF">2013-01-27T09:14:16Z</dcterms:created>
  <dcterms:modified xsi:type="dcterms:W3CDTF">2026-07-07T09:43:12Z</dcterms:modified>
  <cp:category/>
</cp:coreProperties>
</file>