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presenter, annoncer le titre et la question. Client : Oxand. Remplacer Prénom NOM +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QUI est le client : Oxand, gestion du bati, outil Simeo (economies d'energie apres renovation).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manque : Simeo ne couvre pas la production locale (solaire). Le besoin = evaluer l'interet du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Definir le besoin en objectif precis : production + rentabilite par departement. Rappeler le perimetre. Ce n'est pas construire Simeo, mais defricher.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Raconter la demarche en 4 temps. Mentionner la reproductibilite.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credibilite : reel (PVGIS, carte) / hypothese (couts, tarifs) / calcule (rentabilite).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Traduire chaque indicateur en une phrase simple. Donner l'ordre de grandeur si on te le demande (LCOE ~8c, payback 6-8 ans, TRI ~14%, VAN +130k).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 4 cartes issues du notebook. Toutes montrent le meme gradient Nord-Sud. Scenario : autoconsommation, installation 100 kWc.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DEMO en direct : bouger un scenario, montrer la carte. Coller l'URL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Schema recapitulatif : de la question aux conclusions, avec les donnees, le calcul et les indicateurs. Sert de fil rouge / recap a la fin de la partie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moment cle. 3 conclusions appuyees sur mes chiffres reels. Ralentir.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A PERSONNALISER avec ton vecu reel et des exemples concrets.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Conclure sur le message cle puis ouvrir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Workshop client  ·  MBA M2 Big Data &amp;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Potentiel photovoltaïque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des toitures tertiaires en France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Où, et à quelles conditions, est-ce rentable ? — une analyse par département.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Cliente : Oxand — logiciel Simeo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EB2C9"/>
                </a:solidFill>
                <a:latin typeface="Calibri"/>
              </a:rPr>
              <a:t>Prénom NOM   ·  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La cliente : 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4008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Oxand accompagne la gestion du patrimoine bâti : anticiper les coûts, prolonger la durée de vie des ouvrages, guider les décisions de rénovation.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222B36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Son logiciel </a:t>
            </a:r>
            <a:r>
              <a:rPr sz="1600" b="1">
                <a:solidFill>
                  <a:srgbClr val="0E7C7B"/>
                </a:solidFill>
                <a:latin typeface="Calibri"/>
              </a:rPr>
              <a:t>Simeo</a:t>
            </a:r>
            <a:r>
              <a:rPr sz="1600" b="0">
                <a:solidFill>
                  <a:srgbClr val="222B36"/>
                </a:solidFill>
                <a:latin typeface="Calibri"/>
              </a:rPr>
              <a:t> simule les gains énergétiques d'un bâtiment : de combien telle rénovation fait-elle baisser la consommation et la facture 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691640"/>
            <a:ext cx="3566160" cy="329184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2011680"/>
            <a:ext cx="29260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Simeo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6EDF4"/>
                </a:solidFill>
                <a:latin typeface="Calibri"/>
              </a:rPr>
              <a:t>L'outil d'Oxand pour chiffrer les économies d'énergie liées à la rénovation.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besoin d'Oxand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Aujourd'hui, Simeo sait chiffrer comment </a:t>
            </a:r>
            <a:r>
              <a:rPr sz="1600" b="1">
                <a:solidFill>
                  <a:srgbClr val="222B36"/>
                </a:solidFill>
                <a:latin typeface="Calibri"/>
              </a:rPr>
              <a:t>consommer moins</a:t>
            </a:r>
            <a:r>
              <a:rPr sz="1600" b="0">
                <a:solidFill>
                  <a:srgbClr val="222B36"/>
                </a:solidFill>
                <a:latin typeface="Calibri"/>
              </a:rPr>
              <a:t> (isolation, ventilation…). Mais pas encore comment </a:t>
            </a:r>
            <a:r>
              <a:rPr sz="1600" b="1">
                <a:solidFill>
                  <a:srgbClr val="222B36"/>
                </a:solidFill>
                <a:latin typeface="Calibri"/>
              </a:rPr>
              <a:t>produire sa propre énergie</a:t>
            </a:r>
            <a:r>
              <a:rPr sz="1600" b="0">
                <a:solidFill>
                  <a:srgbClr val="222B36"/>
                </a:solidFill>
                <a:latin typeface="Calibri"/>
              </a:rPr>
              <a:t> — alors que le solaire devient un levier incontournable de la rénovation.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10332720" cy="137160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libri"/>
              </a:rPr>
              <a:t>Le besoin  </a:t>
            </a:r>
            <a:r>
              <a:rPr sz="1500" b="0">
                <a:solidFill>
                  <a:srgbClr val="222B36"/>
                </a:solidFill>
                <a:latin typeface="Calibri"/>
              </a:rPr>
              <a:t>— aider Oxand à savoir si le solaire en toiture tertiaire vaut le coup, pour préparer son intégration future dans Simeo.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Définition du besoin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241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Traduire ce besoin en un objectif concret : </a:t>
            </a:r>
            <a:r>
              <a:rPr sz="1600" b="1">
                <a:solidFill>
                  <a:srgbClr val="0E7C7B"/>
                </a:solidFill>
                <a:latin typeface="Calibri"/>
              </a:rPr>
              <a:t>estimer la production et la rentabilité</a:t>
            </a:r>
            <a:r>
              <a:rPr sz="1600" b="0">
                <a:solidFill>
                  <a:srgbClr val="222B36"/>
                </a:solidFill>
                <a:latin typeface="Calibri"/>
              </a:rPr>
              <a:t> du solaire en toiture tertiaire, </a:t>
            </a:r>
            <a:r>
              <a:rPr sz="1600" b="1">
                <a:solidFill>
                  <a:srgbClr val="0E7C7B"/>
                </a:solidFill>
                <a:latin typeface="Calibri"/>
              </a:rPr>
              <a:t>département par département</a:t>
            </a:r>
            <a:r>
              <a:rPr sz="1600" b="0">
                <a:solidFill>
                  <a:srgbClr val="222B36"/>
                </a:solidFill>
                <a:latin typeface="Calibri"/>
              </a:rPr>
              <a:t> — pour donner à Oxand des ordres de grandeur, des sources fiables et une cartographie de la rentabilité.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France métropolitaine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03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MAILLE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069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le département (~96)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703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069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toitures tertiaires (9–500 kWc)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10332720" cy="105156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5230368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B36"/>
                </a:solidFill>
                <a:latin typeface="Calibri"/>
              </a:rPr>
              <a:t>Le projet caractérise le « terrain de jeu » — il ne construit pas le module Simeo.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Comment j'ai procédé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Mesurer le soleil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Données officielles PVGIS, pour chaque département.</a:t>
            </a:r>
          </a:p>
        </p:txBody>
      </p:sp>
      <p:sp>
        <p:nvSpPr>
          <p:cNvPr id="7" name="Chevron 6"/>
          <p:cNvSpPr/>
          <p:nvPr/>
        </p:nvSpPr>
        <p:spPr>
          <a:xfrm>
            <a:off x="2999232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502152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02152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Chiffrer coûts &amp; revenus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Investissement, entretien, électricité, sur 25 ans.</a:t>
            </a:r>
          </a:p>
        </p:txBody>
      </p:sp>
      <p:sp>
        <p:nvSpPr>
          <p:cNvPr id="12" name="Chevron 11"/>
          <p:cNvSpPr/>
          <p:nvPr/>
        </p:nvSpPr>
        <p:spPr>
          <a:xfrm>
            <a:off x="5586984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89904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9904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En déduire la rentabilité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Prix de revient, temps de retour, rendement, gain.</a:t>
            </a:r>
          </a:p>
        </p:txBody>
      </p:sp>
      <p:sp>
        <p:nvSpPr>
          <p:cNvPr id="17" name="Chevron 16"/>
          <p:cNvSpPr/>
          <p:nvPr/>
        </p:nvSpPr>
        <p:spPr>
          <a:xfrm>
            <a:off x="8174736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77656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6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6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Rendre lisible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7656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Une cartographie + un outil interactif.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47486"/>
                </a:solidFill>
                <a:latin typeface="Calibri"/>
              </a:rPr>
              <a:t>Chaîne testée et reproductible : les résultats peuvent être recalculés à l'identique.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Je distingue clairement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faits</a:t>
            </a:r>
            <a:r>
              <a:rPr sz="1500" b="0">
                <a:solidFill>
                  <a:srgbClr val="222B36"/>
                </a:solidFill>
                <a:latin typeface="Calibri"/>
              </a:rPr>
              <a:t>, les </a:t>
            </a:r>
            <a:r>
              <a:rPr sz="1500" b="1">
                <a:solidFill>
                  <a:srgbClr val="F2A900"/>
                </a:solidFill>
                <a:latin typeface="Calibri"/>
              </a:rPr>
              <a:t>hypothèses</a:t>
            </a:r>
            <a:r>
              <a:rPr sz="1500" b="0">
                <a:solidFill>
                  <a:srgbClr val="222B36"/>
                </a:solidFill>
                <a:latin typeface="Calibri"/>
              </a:rPr>
              <a:t> et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calculs</a:t>
            </a:r>
            <a:r>
              <a:rPr sz="1500" b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512064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286000"/>
            <a:ext cx="384048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3566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elle vient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0" y="2286000"/>
            <a:ext cx="137160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228600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43200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 soleil (production par département)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743200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2743200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Source officielle PVGIS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2743200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2743200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0128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10128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carte des départements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310128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3310128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Fichier géographique officiel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3310128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3310128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77056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Les coûts et les tarifs de l'électricité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877056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3877056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Estimations de la note de cadrage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877056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3877056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A900"/>
                </a:solidFill>
                <a:latin typeface="Calibri"/>
              </a:rPr>
              <a:t>Hypothèse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43983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443983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rentabilité (prix de revient, gain…)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4443983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443983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Mon modèle de calcul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4443983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12680" y="4443983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Calculé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064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6"/>
                </a:solidFill>
                <a:latin typeface="Calibri"/>
              </a:rPr>
              <a:t>Le soleil est une donnée réelle sur les 96 départements ; ce qui est supposé est étiqueté comme tel.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indicateurs de rentabilité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LCOE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coûte 1 kWh que je produis. À comparer aux ~20 c du réseau.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Payback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Le nombre d'années pour rembourser l'installation.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5548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L'analyse : quatre cartes de France</a:t>
            </a:r>
          </a:p>
        </p:txBody>
      </p:sp>
      <p:pic>
        <p:nvPicPr>
          <p:cNvPr id="3" name="Picture 2" descr="carte_facte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371600"/>
            <a:ext cx="2567815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474720"/>
            <a:ext cx="3116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5" name="Picture 4" descr="carte_lc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371600"/>
            <a:ext cx="2522845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3474720"/>
            <a:ext cx="307148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7" name="Picture 6" descr="carte_pay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3931920"/>
            <a:ext cx="2552075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6035040"/>
            <a:ext cx="31007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9" name="Picture 8" descr="carte_t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3931920"/>
            <a:ext cx="2507105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6035040"/>
            <a:ext cx="305574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Démonstration : l'outil interactif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J'ai transformé l'analyse en une application web. On peut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800" b="0">
                <a:solidFill>
                  <a:srgbClr val="222B36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explorer la carte de France, indicateur par indicateur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choisir le scénario (régime, puissance) — hypothèses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consulter le détail d'un département et exporter les données.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691640"/>
            <a:ext cx="3931920" cy="320040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201168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2A900"/>
                </a:solidFill>
                <a:latin typeface="Cambria"/>
              </a:rPr>
              <a:t>À montrer en direct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256032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Application web, sur ordinateur et mobile.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3657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ADCFC"/>
                </a:solidFill>
                <a:latin typeface="Calibri"/>
              </a:rPr>
              <a:t>Lien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402336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A900"/>
                </a:solidFill>
                <a:latin typeface="Calibri"/>
              </a:rPr>
              <a:t>[ coller l'URL du dashboard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6"/>
                </a:solidFill>
                <a:latin typeface="Calibri"/>
              </a:rPr>
              <a:t>Astuce : insérer aussi une capture d'écran, en complément de la démo.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La démarche, en un schéma</a:t>
            </a:r>
          </a:p>
        </p:txBody>
      </p:sp>
      <p:pic>
        <p:nvPicPr>
          <p:cNvPr id="3" name="Picture 2" descr="schema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2881" y="1234440"/>
            <a:ext cx="850593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Ce que l'analyse conclut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23774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6–8 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20239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Rentable partout en France.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42316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Temps de retour court, TRI ~14 % — produire coûte 2 à 3× moins cher qu'acheter au réseau.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17296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39"/>
            <a:ext cx="23774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+43 %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37559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Plus performant au Sud.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840479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Production et rentabilité augmentent vers le Sud, mais restent attractives partout.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59028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23774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Autoconso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7548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Consommer plutôt que revendre.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2578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L'électricité qu'on évite d'acheter vaut plus que celle qu'on revend.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Ce que ce workshop m'a apporté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47486"/>
                </a:solidFill>
                <a:latin typeface="Calibri"/>
              </a:rPr>
              <a:t>À compléter avec ton vécu — amorces ci-dessous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mbria"/>
              </a:rPr>
              <a:t>Sur le plan professionnel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51206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Ce que j'ai appris sur la donnée et l'analyse…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Ce que la relation client m'a apporté…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La compétence dont je suis la plus fière…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2148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mbria"/>
              </a:rPr>
              <a:t>Sur le plan personnel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697480"/>
            <a:ext cx="48463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La difficulté que j'ai dû surmonter…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Ce que je referais différemment…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Ce que ça m'a confirmé sur mon projet pro…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mbria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Le solaire sur les toits d'entreprise est rentable partout en France — </a:t>
            </a:r>
            <a:r>
              <a:rPr sz="1600" b="1">
                <a:solidFill>
                  <a:srgbClr val="F2A900"/>
                </a:solidFill>
                <a:latin typeface="Calibri"/>
              </a:rPr>
              <a:t>et encore plus au Sud.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A900"/>
                </a:solidFill>
                <a:latin typeface="Cambria"/>
              </a:rPr>
              <a:t>Place à vos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B2C9"/>
                </a:solidFill>
                <a:latin typeface="Calibri"/>
              </a:rPr>
              <a:t>Prénom NOM   ·   Workshop client — Oxand   ·   MBA M2 Big Data &amp;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