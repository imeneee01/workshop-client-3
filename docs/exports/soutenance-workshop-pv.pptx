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20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9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ene BELHOCINE" userId="e37e8402-5311-406e-9548-87222291f0f9" providerId="ADAL" clId="{D63CC582-91E3-4D3B-90F1-775970AA34C9}"/>
    <pc:docChg chg="undo custSel delSld modSld">
      <pc:chgData name="Imene BELHOCINE" userId="e37e8402-5311-406e-9548-87222291f0f9" providerId="ADAL" clId="{D63CC582-91E3-4D3B-90F1-775970AA34C9}" dt="2026-07-07T09:43:11.451" v="115" actId="20577"/>
      <pc:docMkLst>
        <pc:docMk/>
      </pc:docMkLst>
      <pc:sldChg chg="modSp mod">
        <pc:chgData name="Imene BELHOCINE" userId="e37e8402-5311-406e-9548-87222291f0f9" providerId="ADAL" clId="{D63CC582-91E3-4D3B-90F1-775970AA34C9}" dt="2026-07-04T23:44:04.690" v="93" actId="20577"/>
        <pc:sldMkLst>
          <pc:docMk/>
          <pc:sldMk cId="0" sldId="256"/>
        </pc:sldMkLst>
        <pc:spChg chg="mod">
          <ac:chgData name="Imene BELHOCINE" userId="e37e8402-5311-406e-9548-87222291f0f9" providerId="ADAL" clId="{D63CC582-91E3-4D3B-90F1-775970AA34C9}" dt="2026-07-04T23:44:04.690" v="93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Imene BELHOCINE" userId="e37e8402-5311-406e-9548-87222291f0f9" providerId="ADAL" clId="{D63CC582-91E3-4D3B-90F1-775970AA34C9}" dt="2026-07-07T09:43:11.451" v="115" actId="20577"/>
        <pc:sldMkLst>
          <pc:docMk/>
          <pc:sldMk cId="0" sldId="257"/>
        </pc:sldMkLst>
        <pc:spChg chg="mod">
          <ac:chgData name="Imene BELHOCINE" userId="e37e8402-5311-406e-9548-87222291f0f9" providerId="ADAL" clId="{D63CC582-91E3-4D3B-90F1-775970AA34C9}" dt="2026-07-04T23:44:15.286" v="9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7T09:43:11.451" v="115" actId="20577"/>
          <ac:spMkLst>
            <pc:docMk/>
            <pc:sldMk cId="0" sldId="257"/>
            <ac:spMk id="5" creationId="{00000000-0000-0000-0000-000000000000}"/>
          </ac:spMkLst>
        </pc:spChg>
      </pc:sldChg>
      <pc:sldChg chg="delSp mod">
        <pc:chgData name="Imene BELHOCINE" userId="e37e8402-5311-406e-9548-87222291f0f9" providerId="ADAL" clId="{D63CC582-91E3-4D3B-90F1-775970AA34C9}" dt="2026-07-04T23:39:53.086" v="0" actId="478"/>
        <pc:sldMkLst>
          <pc:docMk/>
          <pc:sldMk cId="0" sldId="260"/>
        </pc:sldMkLst>
      </pc:sldChg>
      <pc:sldChg chg="modSp mod">
        <pc:chgData name="Imene BELHOCINE" userId="e37e8402-5311-406e-9548-87222291f0f9" providerId="ADAL" clId="{D63CC582-91E3-4D3B-90F1-775970AA34C9}" dt="2026-07-04T23:40:07.409" v="6" actId="20577"/>
        <pc:sldMkLst>
          <pc:docMk/>
          <pc:sldMk cId="0" sldId="261"/>
        </pc:sldMkLst>
        <pc:spChg chg="mod">
          <ac:chgData name="Imene BELHOCINE" userId="e37e8402-5311-406e-9548-87222291f0f9" providerId="ADAL" clId="{D63CC582-91E3-4D3B-90F1-775970AA34C9}" dt="2026-07-04T23:40:07.409" v="6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Imene BELHOCINE" userId="e37e8402-5311-406e-9548-87222291f0f9" providerId="ADAL" clId="{D63CC582-91E3-4D3B-90F1-775970AA34C9}" dt="2026-07-04T23:41:02.539" v="43" actId="1037"/>
        <pc:sldMkLst>
          <pc:docMk/>
          <pc:sldMk cId="0" sldId="262"/>
        </pc:sldMkLst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5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7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8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Imene BELHOCINE" userId="e37e8402-5311-406e-9548-87222291f0f9" providerId="ADAL" clId="{D63CC582-91E3-4D3B-90F1-775970AA34C9}" dt="2026-07-04T23:41:02.539" v="43" actId="1037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Imene BELHOCINE" userId="e37e8402-5311-406e-9548-87222291f0f9" providerId="ADAL" clId="{D63CC582-91E3-4D3B-90F1-775970AA34C9}" dt="2026-07-04T23:42:02.113" v="53" actId="20577"/>
        <pc:sldMkLst>
          <pc:docMk/>
          <pc:sldMk cId="0" sldId="263"/>
        </pc:sldMkLst>
        <pc:spChg chg="mod">
          <ac:chgData name="Imene BELHOCINE" userId="e37e8402-5311-406e-9548-87222291f0f9" providerId="ADAL" clId="{D63CC582-91E3-4D3B-90F1-775970AA34C9}" dt="2026-07-04T23:42:02.113" v="53" actId="20577"/>
          <ac:spMkLst>
            <pc:docMk/>
            <pc:sldMk cId="0" sldId="263"/>
            <ac:spMk id="11" creationId="{00000000-0000-0000-0000-000000000000}"/>
          </ac:spMkLst>
        </pc:spChg>
      </pc:sldChg>
      <pc:sldChg chg="delSp mod">
        <pc:chgData name="Imene BELHOCINE" userId="e37e8402-5311-406e-9548-87222291f0f9" providerId="ADAL" clId="{D63CC582-91E3-4D3B-90F1-775970AA34C9}" dt="2026-07-04T23:42:46.952" v="59" actId="478"/>
        <pc:sldMkLst>
          <pc:docMk/>
          <pc:sldMk cId="0" sldId="264"/>
        </pc:sldMkLst>
      </pc:sldChg>
      <pc:sldChg chg="modSp mod">
        <pc:chgData name="Imene BELHOCINE" userId="e37e8402-5311-406e-9548-87222291f0f9" providerId="ADAL" clId="{D63CC582-91E3-4D3B-90F1-775970AA34C9}" dt="2026-07-04T23:43:43.741" v="76" actId="20577"/>
        <pc:sldMkLst>
          <pc:docMk/>
          <pc:sldMk cId="0" sldId="268"/>
        </pc:sldMkLst>
        <pc:spChg chg="mod">
          <ac:chgData name="Imene BELHOCINE" userId="e37e8402-5311-406e-9548-87222291f0f9" providerId="ADAL" clId="{D63CC582-91E3-4D3B-90F1-775970AA34C9}" dt="2026-07-04T23:43:43.741" v="76" actId="20577"/>
          <ac:spMkLst>
            <pc:docMk/>
            <pc:sldMk cId="0" sldId="268"/>
            <ac:spMk id="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160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presenter, annoncer le titre et la question. Client : Oxand. Remplacer Prénom NOM +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Poser QUI est le client : Oxand, gestion du bati, outil Simeo (economies d'energie apres renovation).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manque : Simeo ne couvre pas la production locale (solaire). Le besoin = evaluer l'interet du PV.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Definir le besoin en objectif precis : production + rentabilite par departement. Rappeler le perimetre. Ce n'est pas construire Simeo, mais defricher.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Raconter la demarche en 4 temps. Mentionner la reproductibilite.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de credibilite : reel (PVGIS, carte) / hypothese (couts, tarifs) / calcule (rentabilite).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Traduire chaque indicateur en une phrase simple. Donner l'ordre de grandeur si on te le demande (LCOE ~8c, payback 6-8 ans, TRI ~14%, VAN +130k).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 4 cartes issues du notebook. Toutes montrent le meme gradient Nord-Sud. Scenario : autoconsommation, installation 100 kWc.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Faire la DEMO en direct : bouger un scenario, montrer la carte. Coller l'URL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Schema recapitulatif : de la question aux conclusions, avec les donnees, le calcul et les indicateurs. Sert de fil rouge / recap a la fin de la partie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moment cle. 3 conclusions appuyees sur mes chiffres reels. Ralentir.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Conclure sur le message cle puis ouvrir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Workshop client  ·  MBA M2 Big Data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Potentiel photovoltaïque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des toitures tertiaires en France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Où, et à quelles conditions, est-ce rentable ? — une analyse par département.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FFFFFF"/>
                </a:solidFill>
                <a:latin typeface="Calibri"/>
              </a:rPr>
              <a:t>Client : Oxand —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logiciel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Simeo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fr-FR" sz="1300" b="0" dirty="0">
                <a:solidFill>
                  <a:srgbClr val="9EB2C9"/>
                </a:solidFill>
                <a:latin typeface="Calibri"/>
              </a:rPr>
              <a:t>Imene BELHOCINE </a:t>
            </a:r>
            <a:r>
              <a:rPr sz="1300" b="0" dirty="0">
                <a:solidFill>
                  <a:srgbClr val="9EB2C9"/>
                </a:solidFill>
                <a:latin typeface="Calibri"/>
              </a:rPr>
              <a:t>·  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2293D"/>
                </a:solidFill>
                <a:latin typeface="Cambria"/>
              </a:rPr>
              <a:t>L</a:t>
            </a:r>
            <a:r>
              <a:rPr lang="fr-FR" sz="3000" b="1" dirty="0">
                <a:solidFill>
                  <a:srgbClr val="12293D"/>
                </a:solidFill>
                <a:latin typeface="Cambria"/>
              </a:rPr>
              <a:t>e</a:t>
            </a:r>
            <a:r>
              <a:rPr sz="3000" b="1" dirty="0">
                <a:solidFill>
                  <a:srgbClr val="12293D"/>
                </a:solidFill>
                <a:latin typeface="Cambria"/>
              </a:rPr>
              <a:t> client : Oxand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640080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F2A900"/>
                </a:solidFill>
                <a:latin typeface="Calibri"/>
              </a:rPr>
              <a:t>•  </a:t>
            </a:r>
            <a:r>
              <a:rPr sz="1700">
                <a:solidFill>
                  <a:srgbClr val="222B36"/>
                </a:solidFill>
                <a:latin typeface="Calibri"/>
              </a:rPr>
              <a:t>Oxand — gestion du patrimoine bâti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F2A900"/>
                </a:solidFill>
                <a:latin typeface="Calibri"/>
              </a:rPr>
              <a:t>•  </a:t>
            </a:r>
            <a:r>
              <a:rPr sz="1700">
                <a:solidFill>
                  <a:srgbClr val="222B36"/>
                </a:solidFill>
                <a:latin typeface="Calibri"/>
              </a:rPr>
              <a:t>Anticiper les coûts, rénover au bon moment, prolonger la durée de vie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F2A900"/>
                </a:solidFill>
                <a:latin typeface="Calibri"/>
              </a:rPr>
              <a:t>•  </a:t>
            </a:r>
            <a:r>
              <a:rPr sz="1700">
                <a:solidFill>
                  <a:srgbClr val="222B36"/>
                </a:solidFill>
                <a:latin typeface="Calibri"/>
              </a:rPr>
              <a:t>Simeo — son logiciel : simule les gains d'une rénovation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F2A900"/>
                </a:solidFill>
                <a:latin typeface="Calibri"/>
              </a:rPr>
              <a:t>•  </a:t>
            </a:r>
            <a:r>
              <a:rPr sz="1700">
                <a:solidFill>
                  <a:srgbClr val="222B36"/>
                </a:solidFill>
                <a:latin typeface="Calibri"/>
              </a:rPr>
              <a:t>→ le point de départ de mon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691640"/>
            <a:ext cx="3566160" cy="3291840"/>
          </a:xfrm>
          <a:prstGeom prst="roundRect">
            <a:avLst/>
          </a:prstGeom>
          <a:solidFill>
            <a:srgbClr val="12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1000" y="201168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dirty="0">
                <a:solidFill>
                  <a:srgbClr val="FFFFFF"/>
                </a:solidFill>
                <a:latin typeface="Cambria"/>
              </a:rPr>
              <a:t>Simeo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2200" b="1" dirty="0">
              <a:solidFill>
                <a:srgbClr val="FFFFFF"/>
              </a:solidFill>
              <a:latin typeface="Cambria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rgbClr val="E6EDF4"/>
                </a:solidFill>
                <a:latin typeface="Calibri"/>
              </a:rPr>
              <a:t>L'outil</a:t>
            </a:r>
            <a:r>
              <a:rPr sz="1400" b="0" dirty="0">
                <a:solidFill>
                  <a:srgbClr val="E6EDF4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E6EDF4"/>
                </a:solidFill>
                <a:latin typeface="Calibri"/>
              </a:rPr>
              <a:t>d'Oxand</a:t>
            </a:r>
            <a:r>
              <a:rPr sz="1400" b="0" dirty="0">
                <a:solidFill>
                  <a:srgbClr val="E6EDF4"/>
                </a:solidFill>
                <a:latin typeface="Calibri"/>
              </a:rPr>
              <a:t> pour </a:t>
            </a:r>
            <a:r>
              <a:rPr lang="fr-FR" sz="1400" b="0" dirty="0">
                <a:solidFill>
                  <a:srgbClr val="E6EDF4"/>
                </a:solidFill>
                <a:latin typeface="Calibri"/>
              </a:rPr>
              <a:t>chiffrer</a:t>
            </a:r>
            <a:r>
              <a:rPr sz="1400" b="0" dirty="0">
                <a:solidFill>
                  <a:srgbClr val="E6EDF4"/>
                </a:solidFill>
                <a:latin typeface="Calibri"/>
              </a:rPr>
              <a:t> les </a:t>
            </a:r>
            <a:r>
              <a:rPr sz="1400" b="0" dirty="0" err="1">
                <a:solidFill>
                  <a:srgbClr val="E6EDF4"/>
                </a:solidFill>
                <a:latin typeface="Calibri"/>
              </a:rPr>
              <a:t>économies</a:t>
            </a:r>
            <a:r>
              <a:rPr sz="1400" b="0" dirty="0">
                <a:solidFill>
                  <a:srgbClr val="E6EDF4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E6EDF4"/>
                </a:solidFill>
                <a:latin typeface="Calibri"/>
              </a:rPr>
              <a:t>d'énergie</a:t>
            </a:r>
            <a:r>
              <a:rPr sz="1400" b="0" dirty="0">
                <a:solidFill>
                  <a:srgbClr val="E6EDF4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E6EDF4"/>
                </a:solidFill>
                <a:latin typeface="Calibri"/>
              </a:rPr>
              <a:t>liées</a:t>
            </a:r>
            <a:r>
              <a:rPr sz="1400" b="0" dirty="0">
                <a:solidFill>
                  <a:srgbClr val="E6EDF4"/>
                </a:solidFill>
                <a:latin typeface="Calibri"/>
              </a:rPr>
              <a:t> à la </a:t>
            </a:r>
            <a:r>
              <a:rPr sz="1400" b="0" dirty="0" err="1">
                <a:solidFill>
                  <a:srgbClr val="E6EDF4"/>
                </a:solidFill>
                <a:latin typeface="Calibri"/>
              </a:rPr>
              <a:t>rénovation</a:t>
            </a:r>
            <a:r>
              <a:rPr sz="1400" b="0" dirty="0">
                <a:solidFill>
                  <a:srgbClr val="E6EDF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Le besoin d'Oxand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F2A900"/>
                </a:solidFill>
                <a:latin typeface="Calibri"/>
              </a:rPr>
              <a:t>•  </a:t>
            </a:r>
            <a:r>
              <a:rPr sz="1700">
                <a:solidFill>
                  <a:srgbClr val="222B36"/>
                </a:solidFill>
                <a:latin typeface="Calibri"/>
              </a:rPr>
              <a:t>Simeo sait chiffrer : consommer moins (isolation, ventilation)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F2A900"/>
                </a:solidFill>
                <a:latin typeface="Calibri"/>
              </a:rPr>
              <a:t>•  </a:t>
            </a:r>
            <a:r>
              <a:rPr sz="1700">
                <a:solidFill>
                  <a:srgbClr val="222B36"/>
                </a:solidFill>
                <a:latin typeface="Calibri"/>
              </a:rPr>
              <a:t>Pas encore : produire sa propre énergie → le solaire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700">
                <a:solidFill>
                  <a:srgbClr val="F2A900"/>
                </a:solidFill>
                <a:latin typeface="Calibri"/>
              </a:rPr>
              <a:t>•  </a:t>
            </a:r>
            <a:r>
              <a:rPr sz="1700">
                <a:solidFill>
                  <a:srgbClr val="222B36"/>
                </a:solidFill>
                <a:latin typeface="Calibri"/>
              </a:rPr>
              <a:t>Pourquoi maintenant : obligations (loi APER) + prix des panneaux en baisse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32720" cy="1371600"/>
          </a:xfrm>
          <a:prstGeom prst="round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7B"/>
                </a:solidFill>
                <a:latin typeface="Calibri"/>
              </a:rPr>
              <a:t>Le besoin  </a:t>
            </a:r>
            <a:r>
              <a:rPr sz="1500" b="0">
                <a:solidFill>
                  <a:srgbClr val="222B36"/>
                </a:solidFill>
                <a:latin typeface="Calibri"/>
              </a:rPr>
              <a:t>— aider Oxand à savoir si le solaire en toiture tertiaire vaut le coup, pour préparer son intégration future dans Simeo.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Définition du besoin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600">
                <a:solidFill>
                  <a:srgbClr val="F2A900"/>
                </a:solidFill>
                <a:latin typeface="Calibri"/>
              </a:rPr>
              <a:t>•  </a:t>
            </a:r>
            <a:r>
              <a:rPr sz="1600">
                <a:solidFill>
                  <a:srgbClr val="222B36"/>
                </a:solidFill>
                <a:latin typeface="Calibri"/>
              </a:rPr>
              <a:t>Objectif : estimer production + rentabilité, par département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600">
                <a:solidFill>
                  <a:srgbClr val="F2A900"/>
                </a:solidFill>
                <a:latin typeface="Calibri"/>
              </a:rPr>
              <a:t>•  </a:t>
            </a:r>
            <a:r>
              <a:rPr sz="1600">
                <a:solidFill>
                  <a:srgbClr val="222B36"/>
                </a:solidFill>
                <a:latin typeface="Calibri"/>
              </a:rPr>
              <a:t>Département par département → voir les écarts Nord / Sud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486"/>
                </a:solidFill>
                <a:latin typeface="Calibri"/>
              </a:rPr>
              <a:t>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3D"/>
                </a:solidFill>
                <a:latin typeface="Cambria"/>
              </a:rPr>
              <a:t>France métropolitaine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033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486"/>
                </a:solidFill>
                <a:latin typeface="Calibri"/>
              </a:rPr>
              <a:t>MAILLE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40690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3D"/>
                </a:solidFill>
                <a:latin typeface="Cambria"/>
              </a:rPr>
              <a:t>le département (~96)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7033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7486"/>
                </a:solidFill>
                <a:latin typeface="Calibri"/>
              </a:rPr>
              <a:t>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0690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3D"/>
                </a:solidFill>
                <a:latin typeface="Cambria"/>
              </a:rPr>
              <a:t>toitures tertiaires (9–500 kWc)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10332720" cy="1051560"/>
          </a:xfrm>
          <a:prstGeom prst="round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523036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B36"/>
                </a:solidFill>
                <a:latin typeface="Calibri"/>
              </a:rPr>
              <a:t>Le projet caractérise le « terrain de jeu » — il ne construit pas le module Simeo.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Comment j'ai procédé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93D"/>
                </a:solidFill>
                <a:latin typeface="Cambria"/>
              </a:rPr>
              <a:t>Mesurer le soleil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226771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Données officielles PVGIS, pour chaque département.</a:t>
            </a:r>
          </a:p>
        </p:txBody>
      </p:sp>
      <p:sp>
        <p:nvSpPr>
          <p:cNvPr id="7" name="Chevron 6"/>
          <p:cNvSpPr/>
          <p:nvPr/>
        </p:nvSpPr>
        <p:spPr>
          <a:xfrm>
            <a:off x="2999232" y="2286000"/>
            <a:ext cx="365760" cy="384048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02152" y="2194560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971800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93D"/>
                </a:solidFill>
                <a:latin typeface="Cambria"/>
              </a:rPr>
              <a:t>Chiffrer coûts &amp; 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3703320"/>
            <a:ext cx="226771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Investissement, entretien, électricité, sur 25 ans.</a:t>
            </a:r>
          </a:p>
        </p:txBody>
      </p:sp>
      <p:sp>
        <p:nvSpPr>
          <p:cNvPr id="12" name="Chevron 11"/>
          <p:cNvSpPr/>
          <p:nvPr/>
        </p:nvSpPr>
        <p:spPr>
          <a:xfrm>
            <a:off x="5586984" y="2286000"/>
            <a:ext cx="365760" cy="384048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89904" y="2194560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9904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971800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93D"/>
                </a:solidFill>
                <a:latin typeface="Cambria"/>
              </a:rPr>
              <a:t>En déduire la rentabilité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3703320"/>
            <a:ext cx="226771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Prix de revient, temps de retour, rendement, gain.</a:t>
            </a:r>
          </a:p>
        </p:txBody>
      </p:sp>
      <p:sp>
        <p:nvSpPr>
          <p:cNvPr id="17" name="Chevron 16"/>
          <p:cNvSpPr/>
          <p:nvPr/>
        </p:nvSpPr>
        <p:spPr>
          <a:xfrm>
            <a:off x="8174736" y="2286000"/>
            <a:ext cx="365760" cy="384048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77656" y="2194560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77656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2971800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93D"/>
                </a:solidFill>
                <a:latin typeface="Cambria"/>
              </a:rPr>
              <a:t>Rendre lisible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3703320"/>
            <a:ext cx="226771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Une cartographie + un outil interactif.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Les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500" dirty="0">
                <a:solidFill>
                  <a:srgbClr val="222B36"/>
                </a:solidFill>
                <a:latin typeface="Calibri"/>
              </a:rPr>
              <a:t>On</a:t>
            </a:r>
            <a:r>
              <a:rPr sz="1500" b="0" dirty="0">
                <a:solidFill>
                  <a:srgbClr val="222B36"/>
                </a:solidFill>
                <a:latin typeface="Calibri"/>
              </a:rPr>
              <a:t> distingue </a:t>
            </a:r>
            <a:r>
              <a:rPr sz="1500" b="0" dirty="0" err="1">
                <a:solidFill>
                  <a:srgbClr val="222B36"/>
                </a:solidFill>
                <a:latin typeface="Calibri"/>
              </a:rPr>
              <a:t>clairement</a:t>
            </a:r>
            <a:r>
              <a:rPr sz="1500" b="0" dirty="0">
                <a:solidFill>
                  <a:srgbClr val="222B36"/>
                </a:solidFill>
                <a:latin typeface="Calibri"/>
              </a:rPr>
              <a:t> les </a:t>
            </a:r>
            <a:r>
              <a:rPr sz="1500" b="1" dirty="0">
                <a:solidFill>
                  <a:srgbClr val="0E7C7B"/>
                </a:solidFill>
                <a:latin typeface="Calibri"/>
              </a:rPr>
              <a:t>faits</a:t>
            </a:r>
            <a:r>
              <a:rPr sz="1500" b="0" dirty="0">
                <a:solidFill>
                  <a:srgbClr val="222B36"/>
                </a:solidFill>
                <a:latin typeface="Calibri"/>
              </a:rPr>
              <a:t>, les </a:t>
            </a:r>
            <a:r>
              <a:rPr sz="1500" b="1" dirty="0" err="1">
                <a:solidFill>
                  <a:srgbClr val="F2A900"/>
                </a:solidFill>
                <a:latin typeface="Calibri"/>
              </a:rPr>
              <a:t>hypothèses</a:t>
            </a:r>
            <a:r>
              <a:rPr sz="1500" b="0" dirty="0">
                <a:solidFill>
                  <a:srgbClr val="222B36"/>
                </a:solidFill>
                <a:latin typeface="Calibri"/>
              </a:rPr>
              <a:t> et les </a:t>
            </a:r>
            <a:r>
              <a:rPr sz="1500" b="1" dirty="0" err="1">
                <a:solidFill>
                  <a:srgbClr val="0E7C7B"/>
                </a:solidFill>
                <a:latin typeface="Calibri"/>
              </a:rPr>
              <a:t>calculs</a:t>
            </a:r>
            <a:r>
              <a:rPr sz="1500" b="0" dirty="0">
                <a:solidFill>
                  <a:srgbClr val="222B36"/>
                </a:solidFill>
                <a:latin typeface="Calibri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5120640" cy="457200"/>
          </a:xfrm>
          <a:prstGeom prst="rect">
            <a:avLst/>
          </a:prstGeom>
          <a:solidFill>
            <a:srgbClr val="12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286000"/>
            <a:ext cx="3840480" cy="457200"/>
          </a:xfrm>
          <a:prstGeom prst="rect">
            <a:avLst/>
          </a:prstGeom>
          <a:solidFill>
            <a:srgbClr val="12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72200" y="22860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D'où elle vient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2286000"/>
            <a:ext cx="1371600" cy="457200"/>
          </a:xfrm>
          <a:prstGeom prst="rect">
            <a:avLst/>
          </a:prstGeom>
          <a:solidFill>
            <a:srgbClr val="12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12680" y="22860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3200"/>
            <a:ext cx="5120640" cy="56692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Le soleil (production par département)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743200"/>
            <a:ext cx="3840480" cy="56692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74320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Source officielle PVGIS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743200"/>
            <a:ext cx="1371600" cy="56692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12680" y="274320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Réel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310128"/>
            <a:ext cx="5120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31012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La carte des départements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310128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331012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Fichier géographique officiel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3310128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3310128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Réel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877056"/>
            <a:ext cx="5120640" cy="56692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87705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Les coûts et les tarifs de l'électricité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877056"/>
            <a:ext cx="3840480" cy="56692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387705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Estimations de la note de cadrage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3877056"/>
            <a:ext cx="1371600" cy="56692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12680" y="3877056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A900"/>
                </a:solidFill>
                <a:latin typeface="Calibri"/>
              </a:rPr>
              <a:t>Hypothèse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43983"/>
            <a:ext cx="5120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443983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La rentabilité (prix de revient, gain…)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443983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4443983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6"/>
                </a:solidFill>
                <a:latin typeface="Calibri"/>
              </a:rPr>
              <a:t>Mon modèle de calcul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4443983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12680" y="4443983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Calculé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0644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6"/>
                </a:solidFill>
                <a:latin typeface="Calibri"/>
              </a:rPr>
              <a:t>Le soleil est une donnée réelle sur les 96 départements ; ce qui est supposé est étiqueté comme tel.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Les indicateurs de rentabilité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2602" y="2194559"/>
            <a:ext cx="2606040" cy="2926080"/>
          </a:xfrm>
          <a:prstGeom prst="roundRect">
            <a:avLst/>
          </a:prstGeom>
          <a:solidFill>
            <a:srgbClr val="F5F8F7"/>
          </a:solidFill>
          <a:ln>
            <a:noFill/>
          </a:ln>
          <a:effectLst>
            <a:outerShdw blurRad="60000" dist="20000" dir="5400000" rotWithShape="0">
              <a:srgbClr val="12293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2602" y="251460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7C7B"/>
                </a:solidFill>
                <a:latin typeface="Cambria"/>
              </a:rPr>
              <a:t>LCOE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2" y="3246119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93D"/>
                </a:solidFill>
                <a:latin typeface="Cambria"/>
              </a:rPr>
              <a:t>Prix de revient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2" y="379476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6"/>
                </a:solidFill>
                <a:latin typeface="Calibri"/>
              </a:rPr>
              <a:t>Ce que coûte 1 kWh que je produis. À comparer aux ~20 c du réseau.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2962" y="2194559"/>
            <a:ext cx="2606040" cy="2926080"/>
          </a:xfrm>
          <a:prstGeom prst="roundRect">
            <a:avLst/>
          </a:prstGeom>
          <a:solidFill>
            <a:srgbClr val="F5F8F7"/>
          </a:solidFill>
          <a:ln>
            <a:noFill/>
          </a:ln>
          <a:effectLst>
            <a:outerShdw blurRad="60000" dist="20000" dir="5400000" rotWithShape="0">
              <a:srgbClr val="12293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2962" y="251460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7C7B"/>
                </a:solidFill>
                <a:latin typeface="Cambria"/>
              </a:rPr>
              <a:t>Payback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2962" y="3246119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93D"/>
                </a:solidFill>
                <a:latin typeface="Cambria"/>
              </a:rPr>
              <a:t>Temps de retour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1562" y="379476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6"/>
                </a:solidFill>
                <a:latin typeface="Calibri"/>
              </a:rPr>
              <a:t>Le nombre d'années pour rembourser l'installation.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3322" y="2194559"/>
            <a:ext cx="2606040" cy="2926080"/>
          </a:xfrm>
          <a:prstGeom prst="roundRect">
            <a:avLst/>
          </a:prstGeom>
          <a:solidFill>
            <a:srgbClr val="F5F8F7"/>
          </a:solidFill>
          <a:ln>
            <a:noFill/>
          </a:ln>
          <a:effectLst>
            <a:outerShdw blurRad="60000" dist="20000" dir="5400000" rotWithShape="0">
              <a:srgbClr val="12293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3322" y="251460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7C7B"/>
                </a:solidFill>
                <a:latin typeface="Cambria"/>
              </a:rPr>
              <a:t>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322" y="3246119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93D"/>
                </a:solidFill>
                <a:latin typeface="Cambria"/>
              </a:rPr>
              <a:t>Rendement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1922" y="379476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6"/>
                </a:solidFill>
                <a:latin typeface="Calibri"/>
              </a:rPr>
              <a:t>Ce que ça rapporte par an, en %, comme un placement.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23682" y="2194559"/>
            <a:ext cx="2606040" cy="2926080"/>
          </a:xfrm>
          <a:prstGeom prst="roundRect">
            <a:avLst/>
          </a:prstGeom>
          <a:solidFill>
            <a:srgbClr val="F5F8F7"/>
          </a:solidFill>
          <a:ln>
            <a:noFill/>
          </a:ln>
          <a:effectLst>
            <a:outerShdw blurRad="60000" dist="20000" dir="5400000" rotWithShape="0">
              <a:srgbClr val="12293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3682" y="251460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7C7B"/>
                </a:solidFill>
                <a:latin typeface="Cambria"/>
              </a:rPr>
              <a:t>VAN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3682" y="3246119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93D"/>
                </a:solidFill>
                <a:latin typeface="Cambria"/>
              </a:rPr>
              <a:t>Gain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2282" y="379476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22B36"/>
                </a:solidFill>
                <a:latin typeface="Calibri"/>
              </a:rPr>
              <a:t>Ce </a:t>
            </a:r>
            <a:r>
              <a:rPr sz="1200" b="0" dirty="0" err="1">
                <a:solidFill>
                  <a:srgbClr val="222B36"/>
                </a:solidFill>
                <a:latin typeface="Calibri"/>
              </a:rPr>
              <a:t>que</a:t>
            </a:r>
            <a:r>
              <a:rPr sz="1200" b="0" dirty="0">
                <a:solidFill>
                  <a:srgbClr val="222B36"/>
                </a:solidFill>
                <a:latin typeface="Calibri"/>
              </a:rPr>
              <a:t> je </a:t>
            </a:r>
            <a:r>
              <a:rPr sz="1200" b="0" dirty="0" err="1">
                <a:solidFill>
                  <a:srgbClr val="222B36"/>
                </a:solidFill>
                <a:latin typeface="Calibri"/>
              </a:rPr>
              <a:t>gagne</a:t>
            </a:r>
            <a:r>
              <a:rPr sz="1200" b="0" dirty="0">
                <a:solidFill>
                  <a:srgbClr val="222B36"/>
                </a:solidFill>
                <a:latin typeface="Calibri"/>
              </a:rPr>
              <a:t> au final, </a:t>
            </a:r>
            <a:r>
              <a:rPr sz="1200" b="0" dirty="0" err="1">
                <a:solidFill>
                  <a:srgbClr val="222B36"/>
                </a:solidFill>
                <a:latin typeface="Calibri"/>
              </a:rPr>
              <a:t>en</a:t>
            </a:r>
            <a:r>
              <a:rPr sz="1200" b="0" dirty="0">
                <a:solidFill>
                  <a:srgbClr val="222B36"/>
                </a:solidFill>
                <a:latin typeface="Calibri"/>
              </a:rPr>
              <a:t> euros </a:t>
            </a:r>
            <a:r>
              <a:rPr sz="1200" b="0" dirty="0" err="1">
                <a:solidFill>
                  <a:srgbClr val="222B36"/>
                </a:solidFill>
                <a:latin typeface="Calibri"/>
              </a:rPr>
              <a:t>d'aujourd'hui</a:t>
            </a:r>
            <a:r>
              <a:rPr sz="1200" b="0" dirty="0">
                <a:solidFill>
                  <a:srgbClr val="222B3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 err="1">
                <a:solidFill>
                  <a:srgbClr val="12293D"/>
                </a:solidFill>
                <a:latin typeface="Cambria"/>
              </a:rPr>
              <a:t>L'analyse</a:t>
            </a:r>
            <a:r>
              <a:rPr sz="3000" b="1" dirty="0">
                <a:solidFill>
                  <a:srgbClr val="12293D"/>
                </a:solidFill>
                <a:latin typeface="Cambria"/>
              </a:rPr>
              <a:t> : quatre </a:t>
            </a:r>
            <a:r>
              <a:rPr sz="3000" b="1" dirty="0" err="1">
                <a:solidFill>
                  <a:srgbClr val="12293D"/>
                </a:solidFill>
                <a:latin typeface="Cambria"/>
              </a:rPr>
              <a:t>cartes</a:t>
            </a:r>
            <a:r>
              <a:rPr sz="3000" b="1" dirty="0">
                <a:solidFill>
                  <a:srgbClr val="12293D"/>
                </a:solidFill>
                <a:latin typeface="Cambria"/>
              </a:rPr>
              <a:t> de France</a:t>
            </a:r>
          </a:p>
        </p:txBody>
      </p:sp>
      <p:pic>
        <p:nvPicPr>
          <p:cNvPr id="3" name="Picture 2" descr="carte_facteu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371600"/>
            <a:ext cx="2568136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3474720"/>
            <a:ext cx="31167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93D"/>
                </a:solidFill>
                <a:latin typeface="Calibri"/>
              </a:rPr>
              <a:t>Production (kWh/kWc/an)</a:t>
            </a:r>
          </a:p>
        </p:txBody>
      </p:sp>
      <p:pic>
        <p:nvPicPr>
          <p:cNvPr id="5" name="Picture 4" descr="carte_lco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371600"/>
            <a:ext cx="2524772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3474720"/>
            <a:ext cx="30734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93D"/>
                </a:solidFill>
                <a:latin typeface="Calibri"/>
              </a:rPr>
              <a:t>Prix de revient — LCOE (c/kWh)</a:t>
            </a:r>
          </a:p>
        </p:txBody>
      </p:sp>
      <p:pic>
        <p:nvPicPr>
          <p:cNvPr id="7" name="Picture 6" descr="carte_payba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931920"/>
            <a:ext cx="2553681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6035040"/>
            <a:ext cx="310232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93D"/>
                </a:solidFill>
                <a:latin typeface="Calibri"/>
              </a:rPr>
              <a:t>Temps de retour (ans)</a:t>
            </a:r>
          </a:p>
        </p:txBody>
      </p:sp>
      <p:pic>
        <p:nvPicPr>
          <p:cNvPr id="9" name="Picture 8" descr="carte_tr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3931920"/>
            <a:ext cx="2507908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6035040"/>
            <a:ext cx="30565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93D"/>
                </a:solidFill>
                <a:latin typeface="Calibri"/>
              </a:rPr>
              <a:t>Rendement — TRI (%)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647486"/>
                </a:solidFill>
                <a:latin typeface="Calibri"/>
              </a:rPr>
              <a:t>Même</a:t>
            </a:r>
            <a:r>
              <a:rPr sz="1200" b="0" dirty="0">
                <a:solidFill>
                  <a:srgbClr val="647486"/>
                </a:solidFill>
                <a:latin typeface="Calibri"/>
              </a:rPr>
              <a:t> </a:t>
            </a:r>
            <a:r>
              <a:rPr lang="fr-FR" sz="1200" b="0" dirty="0">
                <a:solidFill>
                  <a:srgbClr val="647486"/>
                </a:solidFill>
                <a:latin typeface="Calibri"/>
              </a:rPr>
              <a:t>scenario</a:t>
            </a:r>
            <a:r>
              <a:rPr sz="1200" b="0" dirty="0">
                <a:solidFill>
                  <a:srgbClr val="647486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6"/>
                </a:solidFill>
                <a:latin typeface="Calibri"/>
              </a:rPr>
              <a:t>partout</a:t>
            </a:r>
            <a:r>
              <a:rPr sz="1200" b="0" dirty="0">
                <a:solidFill>
                  <a:srgbClr val="647486"/>
                </a:solidFill>
                <a:latin typeface="Calibri"/>
              </a:rPr>
              <a:t> : production et </a:t>
            </a:r>
            <a:r>
              <a:rPr sz="1200" b="0" dirty="0" err="1">
                <a:solidFill>
                  <a:srgbClr val="647486"/>
                </a:solidFill>
                <a:latin typeface="Calibri"/>
              </a:rPr>
              <a:t>rentabilité</a:t>
            </a:r>
            <a:r>
              <a:rPr sz="1200" b="0" dirty="0">
                <a:solidFill>
                  <a:srgbClr val="647486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6"/>
                </a:solidFill>
                <a:latin typeface="Calibri"/>
              </a:rPr>
              <a:t>augmentent</a:t>
            </a:r>
            <a:r>
              <a:rPr sz="1200" b="0" dirty="0">
                <a:solidFill>
                  <a:srgbClr val="647486"/>
                </a:solidFill>
                <a:latin typeface="Calibri"/>
              </a:rPr>
              <a:t> du Nord vers le Sud.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Démonstration : l'outil interactif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6035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J'ai transformé l'analyse en une application web. On peut 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endParaRPr sz="1500" b="0">
              <a:solidFill>
                <a:srgbClr val="222B36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2A900"/>
                </a:solidFill>
                <a:latin typeface="Calibri"/>
              </a:rPr>
              <a:t>•  </a:t>
            </a:r>
            <a:r>
              <a:rPr sz="1450" b="0">
                <a:solidFill>
                  <a:srgbClr val="222B36"/>
                </a:solidFill>
                <a:latin typeface="Calibri"/>
              </a:rPr>
              <a:t>explorer la carte de France, indicateur par indicateur 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2A900"/>
                </a:solidFill>
                <a:latin typeface="Calibri"/>
              </a:rPr>
              <a:t>•  </a:t>
            </a:r>
            <a:r>
              <a:rPr sz="1450" b="0">
                <a:solidFill>
                  <a:srgbClr val="222B36"/>
                </a:solidFill>
                <a:latin typeface="Calibri"/>
              </a:rPr>
              <a:t>choisir le scénario (régime, puissance) — hypothèses fixes 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2A900"/>
                </a:solidFill>
                <a:latin typeface="Calibri"/>
              </a:rPr>
              <a:t>•  </a:t>
            </a:r>
            <a:r>
              <a:rPr sz="1450" b="0">
                <a:solidFill>
                  <a:srgbClr val="222B36"/>
                </a:solidFill>
                <a:latin typeface="Calibri"/>
              </a:rPr>
              <a:t>consulter le détail d'un département et exporter les données.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La démarche, en un schéma</a:t>
            </a:r>
          </a:p>
        </p:txBody>
      </p:sp>
      <p:pic>
        <p:nvPicPr>
          <p:cNvPr id="3" name="Picture 2" descr="schema-compl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881" y="1234440"/>
            <a:ext cx="850593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Ce que l'analyse conclut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2A900"/>
                </a:solidFill>
                <a:latin typeface="Cambria"/>
              </a:rPr>
              <a:t>6–8 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920239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Rentable partout en France.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42316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4"/>
                </a:solidFill>
                <a:latin typeface="Calibri"/>
              </a:rPr>
              <a:t>Temps de retour court, TRI ~14 % — produire coûte 2 à 3× moins cher qu'acheter au réseau.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172968"/>
            <a:ext cx="7863840" cy="1524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91839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2A900"/>
                </a:solidFill>
                <a:latin typeface="Cambria"/>
              </a:rPr>
              <a:t>+43 %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37559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Plus performant au Sud.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840479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4"/>
                </a:solidFill>
                <a:latin typeface="Calibri"/>
              </a:rPr>
              <a:t>Production et rentabilité augmentent vers le Sud, mais restent attractives partout.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590288"/>
            <a:ext cx="7863840" cy="1524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2A900"/>
                </a:solidFill>
                <a:latin typeface="Cambria"/>
              </a:rPr>
              <a:t>Autoconso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548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Consommer plutôt que revendre.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25780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6EDF4"/>
                </a:solidFill>
                <a:latin typeface="Calibri"/>
              </a:rPr>
              <a:t>L'électricité qu'on évite d'acheter vaut plus que celle qu'on revend.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mbria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Le solaire sur les toits d'entreprise est rentable partout en France — </a:t>
            </a:r>
            <a:r>
              <a:rPr sz="1600" b="1">
                <a:solidFill>
                  <a:srgbClr val="F2A900"/>
                </a:solidFill>
                <a:latin typeface="Calibri"/>
              </a:rPr>
              <a:t>et encore plus au Sud.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A900"/>
                </a:solidFill>
                <a:latin typeface="Cambria"/>
              </a:rPr>
              <a:t>Place à vos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3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200" b="0" dirty="0">
                <a:solidFill>
                  <a:srgbClr val="9EB2C9"/>
                </a:solidFill>
                <a:latin typeface="Calibri"/>
              </a:rPr>
              <a:t>Imene BELHOCINE </a:t>
            </a:r>
            <a:r>
              <a:rPr sz="1200" b="0" dirty="0">
                <a:solidFill>
                  <a:srgbClr val="9EB2C9"/>
                </a:solidFill>
                <a:latin typeface="Calibri"/>
              </a:rPr>
              <a:t>·   Workshop client — Oxand   ·   MBA M2 Big Data &amp; 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2293D"/>
                </a:solidFill>
                <a:latin typeface="Cambria"/>
              </a:rPr>
              <a:t>Les hypothèses clés — et d'où elles viennent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47486"/>
                </a:solidFill>
                <a:latin typeface="Calibri"/>
              </a:rPr>
              <a:t>Tous les chiffres du modèle sont explicites et assumés comme des hypothèses.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3657600" cy="457200"/>
          </a:xfrm>
          <a:prstGeom prst="rect">
            <a:avLst/>
          </a:prstGeom>
          <a:solidFill>
            <a:srgbClr val="12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Hypothèse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148840"/>
            <a:ext cx="2377440" cy="457200"/>
          </a:xfrm>
          <a:prstGeom prst="rect">
            <a:avLst/>
          </a:prstGeom>
          <a:solidFill>
            <a:srgbClr val="12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14884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Valeur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2148840"/>
            <a:ext cx="4389120" cy="457200"/>
          </a:xfrm>
          <a:prstGeom prst="rect">
            <a:avLst/>
          </a:prstGeom>
          <a:solidFill>
            <a:srgbClr val="12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1488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D'où ça vient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365760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06040"/>
            <a:ext cx="3383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Durée de vie analysée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606040"/>
            <a:ext cx="237744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606040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Calibri"/>
              </a:rPr>
              <a:t>25 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606040"/>
            <a:ext cx="438912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606040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Durée de vie standard des panneaux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081528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3383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Prix de l'électricité réseau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081528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081528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Calibri"/>
              </a:rPr>
              <a:t>~20 c/kWh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3081528"/>
            <a:ext cx="4389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081528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Prix moyen évité en tertiaire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557016"/>
            <a:ext cx="365760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557016"/>
            <a:ext cx="3383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Tarif de revente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557016"/>
            <a:ext cx="237744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557016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Calibri"/>
              </a:rPr>
              <a:t>8–13 c/kWh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557016"/>
            <a:ext cx="438912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557016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Arrêté tarifaire S21 (réglementé)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032504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032504"/>
            <a:ext cx="3383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Coût d'installation (CAPEX)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4032504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032504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Calibri"/>
              </a:rPr>
              <a:t>1100–1850 €/kWc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4032504"/>
            <a:ext cx="4389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4032504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Fourchettes de marché selon la taille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507992"/>
            <a:ext cx="365760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507992"/>
            <a:ext cx="3383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Entretien (OPEX)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507992"/>
            <a:ext cx="237744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50799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Calibri"/>
              </a:rPr>
              <a:t>1,5 %/an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4507992"/>
            <a:ext cx="438912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4507992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Maintenance courante d'une installation PV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983480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983480"/>
            <a:ext cx="3383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Taux d'autoconsommation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98348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4983480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Calibri"/>
              </a:rPr>
              <a:t>65 %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4983480"/>
            <a:ext cx="4389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4983480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Usage réaliste pour du tertiaire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5458968"/>
            <a:ext cx="365760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458968"/>
            <a:ext cx="3383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Taux d'actualisation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5458968"/>
            <a:ext cx="237744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5458968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Calibri"/>
              </a:rPr>
              <a:t>4 %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5458968"/>
            <a:ext cx="4389120" cy="475488"/>
          </a:xfrm>
          <a:prstGeom prst="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5458968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Calibri"/>
              </a:rPr>
              <a:t>Standard d'analyse d'investissement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07161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6"/>
                </a:solidFill>
                <a:latin typeface="Calibri"/>
              </a:rPr>
              <a:t>Source principale : note de cadrage (Annexe A) — ordres de grandeur de marché. La production, elle, vient de PVGIS (réel).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Microsoft Office PowerPoint</Application>
  <PresentationFormat>Grand écran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Imene BELHOCINE</cp:lastModifiedBy>
  <cp:revision>1</cp:revision>
  <dcterms:created xsi:type="dcterms:W3CDTF">2013-01-27T09:14:16Z</dcterms:created>
  <dcterms:modified xsi:type="dcterms:W3CDTF">2026-07-07T09:43:12Z</dcterms:modified>
  <cp:category/>
</cp:coreProperties>
</file>