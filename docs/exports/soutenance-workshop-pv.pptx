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8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mene BELHOCINE" userId="e37e8402-5311-406e-9548-87222291f0f9" providerId="ADAL" clId="{D63CC582-91E3-4D3B-90F1-775970AA34C9}"/>
    <pc:docChg chg="undo custSel delSld modSld sldOrd">
      <pc:chgData name="Imene BELHOCINE" userId="e37e8402-5311-406e-9548-87222291f0f9" providerId="ADAL" clId="{D63CC582-91E3-4D3B-90F1-775970AA34C9}" dt="2026-07-07T21:31:46.235" v="80" actId="478"/>
      <pc:docMkLst>
        <pc:docMk/>
      </pc:docMkLst>
      <pc:sldChg chg="modNotesTx">
        <pc:chgData name="Imene BELHOCINE" userId="e37e8402-5311-406e-9548-87222291f0f9" providerId="ADAL" clId="{D63CC582-91E3-4D3B-90F1-775970AA34C9}" dt="2026-07-07T17:22:26.224" v="50" actId="20577"/>
        <pc:sldMkLst>
          <pc:docMk/>
          <pc:sldMk cId="0" sldId="256"/>
        </pc:sldMkLst>
      </pc:sldChg>
      <pc:sldChg chg="modNotesTx">
        <pc:chgData name="Imene BELHOCINE" userId="e37e8402-5311-406e-9548-87222291f0f9" providerId="ADAL" clId="{D63CC582-91E3-4D3B-90F1-775970AA34C9}" dt="2026-07-07T17:22:32.182" v="51" actId="20577"/>
        <pc:sldMkLst>
          <pc:docMk/>
          <pc:sldMk cId="0" sldId="257"/>
        </pc:sldMkLst>
      </pc:sldChg>
      <pc:sldChg chg="modNotesTx">
        <pc:chgData name="Imene BELHOCINE" userId="e37e8402-5311-406e-9548-87222291f0f9" providerId="ADAL" clId="{D63CC582-91E3-4D3B-90F1-775970AA34C9}" dt="2026-07-07T17:22:36.943" v="52" actId="20577"/>
        <pc:sldMkLst>
          <pc:docMk/>
          <pc:sldMk cId="0" sldId="258"/>
        </pc:sldMkLst>
      </pc:sldChg>
      <pc:sldChg chg="modNotesTx">
        <pc:chgData name="Imene BELHOCINE" userId="e37e8402-5311-406e-9548-87222291f0f9" providerId="ADAL" clId="{D63CC582-91E3-4D3B-90F1-775970AA34C9}" dt="2026-07-07T17:22:40.552" v="53" actId="20577"/>
        <pc:sldMkLst>
          <pc:docMk/>
          <pc:sldMk cId="0" sldId="259"/>
        </pc:sldMkLst>
      </pc:sldChg>
      <pc:sldChg chg="delSp modSp mod modNotesTx">
        <pc:chgData name="Imene BELHOCINE" userId="e37e8402-5311-406e-9548-87222291f0f9" providerId="ADAL" clId="{D63CC582-91E3-4D3B-90F1-775970AA34C9}" dt="2026-07-07T21:31:23.572" v="77" actId="478"/>
        <pc:sldMkLst>
          <pc:docMk/>
          <pc:sldMk cId="0" sldId="260"/>
        </pc:sldMkLst>
        <pc:spChg chg="del">
          <ac:chgData name="Imene BELHOCINE" userId="e37e8402-5311-406e-9548-87222291f0f9" providerId="ADAL" clId="{D63CC582-91E3-4D3B-90F1-775970AA34C9}" dt="2026-07-07T21:31:23.572" v="77" actId="478"/>
          <ac:spMkLst>
            <pc:docMk/>
            <pc:sldMk cId="0" sldId="260"/>
            <ac:spMk id="22" creationId="{00000000-0000-0000-0000-000000000000}"/>
          </ac:spMkLst>
        </pc:spChg>
        <pc:spChg chg="del mod">
          <ac:chgData name="Imene BELHOCINE" userId="e37e8402-5311-406e-9548-87222291f0f9" providerId="ADAL" clId="{D63CC582-91E3-4D3B-90F1-775970AA34C9}" dt="2026-07-07T21:31:21.895" v="76" actId="478"/>
          <ac:spMkLst>
            <pc:docMk/>
            <pc:sldMk cId="0" sldId="260"/>
            <ac:spMk id="23" creationId="{00000000-0000-0000-0000-000000000000}"/>
          </ac:spMkLst>
        </pc:spChg>
      </pc:sldChg>
      <pc:sldChg chg="delSp mod modNotesTx">
        <pc:chgData name="Imene BELHOCINE" userId="e37e8402-5311-406e-9548-87222291f0f9" providerId="ADAL" clId="{D63CC582-91E3-4D3B-90F1-775970AA34C9}" dt="2026-07-07T21:31:31.806" v="78" actId="478"/>
        <pc:sldMkLst>
          <pc:docMk/>
          <pc:sldMk cId="0" sldId="261"/>
        </pc:sldMkLst>
        <pc:spChg chg="del">
          <ac:chgData name="Imene BELHOCINE" userId="e37e8402-5311-406e-9548-87222291f0f9" providerId="ADAL" clId="{D63CC582-91E3-4D3B-90F1-775970AA34C9}" dt="2026-07-07T21:31:31.806" v="78" actId="478"/>
          <ac:spMkLst>
            <pc:docMk/>
            <pc:sldMk cId="0" sldId="261"/>
            <ac:spMk id="34" creationId="{00000000-0000-0000-0000-000000000000}"/>
          </ac:spMkLst>
        </pc:spChg>
      </pc:sldChg>
      <pc:sldChg chg="delSp mod modNotesTx">
        <pc:chgData name="Imene BELHOCINE" userId="e37e8402-5311-406e-9548-87222291f0f9" providerId="ADAL" clId="{D63CC582-91E3-4D3B-90F1-775970AA34C9}" dt="2026-07-07T21:31:46.235" v="80" actId="478"/>
        <pc:sldMkLst>
          <pc:docMk/>
          <pc:sldMk cId="0" sldId="262"/>
        </pc:sldMkLst>
        <pc:spChg chg="del">
          <ac:chgData name="Imene BELHOCINE" userId="e37e8402-5311-406e-9548-87222291f0f9" providerId="ADAL" clId="{D63CC582-91E3-4D3B-90F1-775970AA34C9}" dt="2026-07-07T21:31:46.235" v="80" actId="478"/>
          <ac:spMkLst>
            <pc:docMk/>
            <pc:sldMk cId="0" sldId="262"/>
            <ac:spMk id="46" creationId="{00000000-0000-0000-0000-000000000000}"/>
          </ac:spMkLst>
        </pc:spChg>
        <pc:spChg chg="del">
          <ac:chgData name="Imene BELHOCINE" userId="e37e8402-5311-406e-9548-87222291f0f9" providerId="ADAL" clId="{D63CC582-91E3-4D3B-90F1-775970AA34C9}" dt="2026-07-07T21:31:41.557" v="79" actId="478"/>
          <ac:spMkLst>
            <pc:docMk/>
            <pc:sldMk cId="0" sldId="262"/>
            <ac:spMk id="74" creationId="{00000000-0000-0000-0000-000000000000}"/>
          </ac:spMkLst>
        </pc:spChg>
      </pc:sldChg>
      <pc:sldChg chg="modSp mod modNotesTx">
        <pc:chgData name="Imene BELHOCINE" userId="e37e8402-5311-406e-9548-87222291f0f9" providerId="ADAL" clId="{D63CC582-91E3-4D3B-90F1-775970AA34C9}" dt="2026-07-07T17:22:53.752" v="57" actId="20577"/>
        <pc:sldMkLst>
          <pc:docMk/>
          <pc:sldMk cId="0" sldId="263"/>
        </pc:sldMkLst>
        <pc:spChg chg="mod">
          <ac:chgData name="Imene BELHOCINE" userId="e37e8402-5311-406e-9548-87222291f0f9" providerId="ADAL" clId="{D63CC582-91E3-4D3B-90F1-775970AA34C9}" dt="2026-07-07T13:11:53.533" v="49" actId="1035"/>
          <ac:spMkLst>
            <pc:docMk/>
            <pc:sldMk cId="0" sldId="263"/>
            <ac:spMk id="4" creationId="{00000000-0000-0000-0000-000000000000}"/>
          </ac:spMkLst>
        </pc:spChg>
        <pc:spChg chg="mod">
          <ac:chgData name="Imene BELHOCINE" userId="e37e8402-5311-406e-9548-87222291f0f9" providerId="ADAL" clId="{D63CC582-91E3-4D3B-90F1-775970AA34C9}" dt="2026-07-07T13:11:53.533" v="49" actId="1035"/>
          <ac:spMkLst>
            <pc:docMk/>
            <pc:sldMk cId="0" sldId="263"/>
            <ac:spMk id="10" creationId="{00000000-0000-0000-0000-000000000000}"/>
          </ac:spMkLst>
        </pc:spChg>
        <pc:spChg chg="mod">
          <ac:chgData name="Imene BELHOCINE" userId="e37e8402-5311-406e-9548-87222291f0f9" providerId="ADAL" clId="{D63CC582-91E3-4D3B-90F1-775970AA34C9}" dt="2026-07-07T13:11:53.533" v="49" actId="1035"/>
          <ac:spMkLst>
            <pc:docMk/>
            <pc:sldMk cId="0" sldId="263"/>
            <ac:spMk id="11" creationId="{00000000-0000-0000-0000-000000000000}"/>
          </ac:spMkLst>
        </pc:spChg>
        <pc:spChg chg="mod">
          <ac:chgData name="Imene BELHOCINE" userId="e37e8402-5311-406e-9548-87222291f0f9" providerId="ADAL" clId="{D63CC582-91E3-4D3B-90F1-775970AA34C9}" dt="2026-07-07T13:11:53.533" v="49" actId="1035"/>
          <ac:spMkLst>
            <pc:docMk/>
            <pc:sldMk cId="0" sldId="263"/>
            <ac:spMk id="19" creationId="{00000000-0000-0000-0000-000000000000}"/>
          </ac:spMkLst>
        </pc:spChg>
        <pc:spChg chg="mod">
          <ac:chgData name="Imene BELHOCINE" userId="e37e8402-5311-406e-9548-87222291f0f9" providerId="ADAL" clId="{D63CC582-91E3-4D3B-90F1-775970AA34C9}" dt="2026-07-07T13:11:53.533" v="49" actId="1035"/>
          <ac:spMkLst>
            <pc:docMk/>
            <pc:sldMk cId="0" sldId="263"/>
            <ac:spMk id="20" creationId="{00000000-0000-0000-0000-000000000000}"/>
          </ac:spMkLst>
        </pc:spChg>
        <pc:spChg chg="mod">
          <ac:chgData name="Imene BELHOCINE" userId="e37e8402-5311-406e-9548-87222291f0f9" providerId="ADAL" clId="{D63CC582-91E3-4D3B-90F1-775970AA34C9}" dt="2026-07-07T13:11:53.533" v="49" actId="1035"/>
          <ac:spMkLst>
            <pc:docMk/>
            <pc:sldMk cId="0" sldId="263"/>
            <ac:spMk id="23" creationId="{00000000-0000-0000-0000-000000000000}"/>
          </ac:spMkLst>
        </pc:spChg>
        <pc:spChg chg="mod">
          <ac:chgData name="Imene BELHOCINE" userId="e37e8402-5311-406e-9548-87222291f0f9" providerId="ADAL" clId="{D63CC582-91E3-4D3B-90F1-775970AA34C9}" dt="2026-07-07T13:11:53.533" v="49" actId="1035"/>
          <ac:spMkLst>
            <pc:docMk/>
            <pc:sldMk cId="0" sldId="263"/>
            <ac:spMk id="24" creationId="{00000000-0000-0000-0000-000000000000}"/>
          </ac:spMkLst>
        </pc:spChg>
        <pc:spChg chg="mod">
          <ac:chgData name="Imene BELHOCINE" userId="e37e8402-5311-406e-9548-87222291f0f9" providerId="ADAL" clId="{D63CC582-91E3-4D3B-90F1-775970AA34C9}" dt="2026-07-07T13:11:53.533" v="49" actId="1035"/>
          <ac:spMkLst>
            <pc:docMk/>
            <pc:sldMk cId="0" sldId="263"/>
            <ac:spMk id="25" creationId="{00000000-0000-0000-0000-000000000000}"/>
          </ac:spMkLst>
        </pc:spChg>
        <pc:spChg chg="mod">
          <ac:chgData name="Imene BELHOCINE" userId="e37e8402-5311-406e-9548-87222291f0f9" providerId="ADAL" clId="{D63CC582-91E3-4D3B-90F1-775970AA34C9}" dt="2026-07-07T13:11:53.533" v="49" actId="1035"/>
          <ac:spMkLst>
            <pc:docMk/>
            <pc:sldMk cId="0" sldId="263"/>
            <ac:spMk id="27" creationId="{00000000-0000-0000-0000-000000000000}"/>
          </ac:spMkLst>
        </pc:spChg>
        <pc:spChg chg="mod">
          <ac:chgData name="Imene BELHOCINE" userId="e37e8402-5311-406e-9548-87222291f0f9" providerId="ADAL" clId="{D63CC582-91E3-4D3B-90F1-775970AA34C9}" dt="2026-07-07T13:11:53.533" v="49" actId="1035"/>
          <ac:spMkLst>
            <pc:docMk/>
            <pc:sldMk cId="0" sldId="263"/>
            <ac:spMk id="29" creationId="{00000000-0000-0000-0000-000000000000}"/>
          </ac:spMkLst>
        </pc:spChg>
      </pc:sldChg>
      <pc:sldChg chg="modNotesTx">
        <pc:chgData name="Imene BELHOCINE" userId="e37e8402-5311-406e-9548-87222291f0f9" providerId="ADAL" clId="{D63CC582-91E3-4D3B-90F1-775970AA34C9}" dt="2026-07-07T17:22:57.626" v="58" actId="20577"/>
        <pc:sldMkLst>
          <pc:docMk/>
          <pc:sldMk cId="0" sldId="264"/>
        </pc:sldMkLst>
      </pc:sldChg>
      <pc:sldChg chg="delSp modSp mod modNotesTx">
        <pc:chgData name="Imene BELHOCINE" userId="e37e8402-5311-406e-9548-87222291f0f9" providerId="ADAL" clId="{D63CC582-91E3-4D3B-90F1-775970AA34C9}" dt="2026-07-07T17:39:07.901" v="74" actId="478"/>
        <pc:sldMkLst>
          <pc:docMk/>
          <pc:sldMk cId="0" sldId="265"/>
        </pc:sldMkLst>
        <pc:spChg chg="del">
          <ac:chgData name="Imene BELHOCINE" userId="e37e8402-5311-406e-9548-87222291f0f9" providerId="ADAL" clId="{D63CC582-91E3-4D3B-90F1-775970AA34C9}" dt="2026-07-07T17:39:01.528" v="70" actId="478"/>
          <ac:spMkLst>
            <pc:docMk/>
            <pc:sldMk cId="0" sldId="265"/>
            <ac:spMk id="4" creationId="{00000000-0000-0000-0000-000000000000}"/>
          </ac:spMkLst>
        </pc:spChg>
        <pc:spChg chg="del">
          <ac:chgData name="Imene BELHOCINE" userId="e37e8402-5311-406e-9548-87222291f0f9" providerId="ADAL" clId="{D63CC582-91E3-4D3B-90F1-775970AA34C9}" dt="2026-07-07T17:38:58.475" v="68" actId="478"/>
          <ac:spMkLst>
            <pc:docMk/>
            <pc:sldMk cId="0" sldId="265"/>
            <ac:spMk id="5" creationId="{00000000-0000-0000-0000-000000000000}"/>
          </ac:spMkLst>
        </pc:spChg>
        <pc:spChg chg="del">
          <ac:chgData name="Imene BELHOCINE" userId="e37e8402-5311-406e-9548-87222291f0f9" providerId="ADAL" clId="{D63CC582-91E3-4D3B-90F1-775970AA34C9}" dt="2026-07-07T17:38:58.475" v="68" actId="478"/>
          <ac:spMkLst>
            <pc:docMk/>
            <pc:sldMk cId="0" sldId="265"/>
            <ac:spMk id="6" creationId="{00000000-0000-0000-0000-000000000000}"/>
          </ac:spMkLst>
        </pc:spChg>
        <pc:spChg chg="del">
          <ac:chgData name="Imene BELHOCINE" userId="e37e8402-5311-406e-9548-87222291f0f9" providerId="ADAL" clId="{D63CC582-91E3-4D3B-90F1-775970AA34C9}" dt="2026-07-07T17:38:58.475" v="68" actId="478"/>
          <ac:spMkLst>
            <pc:docMk/>
            <pc:sldMk cId="0" sldId="265"/>
            <ac:spMk id="7" creationId="{00000000-0000-0000-0000-000000000000}"/>
          </ac:spMkLst>
        </pc:spChg>
        <pc:spChg chg="del">
          <ac:chgData name="Imene BELHOCINE" userId="e37e8402-5311-406e-9548-87222291f0f9" providerId="ADAL" clId="{D63CC582-91E3-4D3B-90F1-775970AA34C9}" dt="2026-07-07T17:38:58.475" v="68" actId="478"/>
          <ac:spMkLst>
            <pc:docMk/>
            <pc:sldMk cId="0" sldId="265"/>
            <ac:spMk id="8" creationId="{00000000-0000-0000-0000-000000000000}"/>
          </ac:spMkLst>
        </pc:spChg>
        <pc:spChg chg="del">
          <ac:chgData name="Imene BELHOCINE" userId="e37e8402-5311-406e-9548-87222291f0f9" providerId="ADAL" clId="{D63CC582-91E3-4D3B-90F1-775970AA34C9}" dt="2026-07-07T17:39:06.643" v="73" actId="478"/>
          <ac:spMkLst>
            <pc:docMk/>
            <pc:sldMk cId="0" sldId="265"/>
            <ac:spMk id="9" creationId="{00000000-0000-0000-0000-000000000000}"/>
          </ac:spMkLst>
        </pc:spChg>
        <pc:spChg chg="del mod">
          <ac:chgData name="Imene BELHOCINE" userId="e37e8402-5311-406e-9548-87222291f0f9" providerId="ADAL" clId="{D63CC582-91E3-4D3B-90F1-775970AA34C9}" dt="2026-07-07T17:39:00.176" v="69" actId="478"/>
          <ac:spMkLst>
            <pc:docMk/>
            <pc:sldMk cId="0" sldId="265"/>
            <ac:spMk id="11" creationId="{00000000-0000-0000-0000-000000000000}"/>
          </ac:spMkLst>
        </pc:spChg>
        <pc:spChg chg="del">
          <ac:chgData name="Imene BELHOCINE" userId="e37e8402-5311-406e-9548-87222291f0f9" providerId="ADAL" clId="{D63CC582-91E3-4D3B-90F1-775970AA34C9}" dt="2026-07-07T17:38:58.475" v="68" actId="478"/>
          <ac:spMkLst>
            <pc:docMk/>
            <pc:sldMk cId="0" sldId="265"/>
            <ac:spMk id="12" creationId="{00000000-0000-0000-0000-000000000000}"/>
          </ac:spMkLst>
        </pc:spChg>
        <pc:spChg chg="del">
          <ac:chgData name="Imene BELHOCINE" userId="e37e8402-5311-406e-9548-87222291f0f9" providerId="ADAL" clId="{D63CC582-91E3-4D3B-90F1-775970AA34C9}" dt="2026-07-07T17:38:58.475" v="68" actId="478"/>
          <ac:spMkLst>
            <pc:docMk/>
            <pc:sldMk cId="0" sldId="265"/>
            <ac:spMk id="13" creationId="{00000000-0000-0000-0000-000000000000}"/>
          </ac:spMkLst>
        </pc:spChg>
        <pc:spChg chg="del">
          <ac:chgData name="Imene BELHOCINE" userId="e37e8402-5311-406e-9548-87222291f0f9" providerId="ADAL" clId="{D63CC582-91E3-4D3B-90F1-775970AA34C9}" dt="2026-07-07T17:38:58.475" v="68" actId="478"/>
          <ac:spMkLst>
            <pc:docMk/>
            <pc:sldMk cId="0" sldId="265"/>
            <ac:spMk id="14" creationId="{00000000-0000-0000-0000-000000000000}"/>
          </ac:spMkLst>
        </pc:spChg>
        <pc:spChg chg="del">
          <ac:chgData name="Imene BELHOCINE" userId="e37e8402-5311-406e-9548-87222291f0f9" providerId="ADAL" clId="{D63CC582-91E3-4D3B-90F1-775970AA34C9}" dt="2026-07-07T17:38:58.475" v="68" actId="478"/>
          <ac:spMkLst>
            <pc:docMk/>
            <pc:sldMk cId="0" sldId="265"/>
            <ac:spMk id="15" creationId="{00000000-0000-0000-0000-000000000000}"/>
          </ac:spMkLst>
        </pc:spChg>
        <pc:spChg chg="del mod">
          <ac:chgData name="Imene BELHOCINE" userId="e37e8402-5311-406e-9548-87222291f0f9" providerId="ADAL" clId="{D63CC582-91E3-4D3B-90F1-775970AA34C9}" dt="2026-07-07T17:39:07.901" v="74" actId="478"/>
          <ac:spMkLst>
            <pc:docMk/>
            <pc:sldMk cId="0" sldId="265"/>
            <ac:spMk id="16" creationId="{00000000-0000-0000-0000-000000000000}"/>
          </ac:spMkLst>
        </pc:spChg>
      </pc:sldChg>
      <pc:sldChg chg="del ord modNotesTx">
        <pc:chgData name="Imene BELHOCINE" userId="e37e8402-5311-406e-9548-87222291f0f9" providerId="ADAL" clId="{D63CC582-91E3-4D3B-90F1-775970AA34C9}" dt="2026-07-07T17:38:40.861" v="65" actId="47"/>
        <pc:sldMkLst>
          <pc:docMk/>
          <pc:sldMk cId="0" sldId="266"/>
        </pc:sldMkLst>
      </pc:sldChg>
      <pc:sldChg chg="modNotesTx">
        <pc:chgData name="Imene BELHOCINE" userId="e37e8402-5311-406e-9548-87222291f0f9" providerId="ADAL" clId="{D63CC582-91E3-4D3B-90F1-775970AA34C9}" dt="2026-07-07T17:23:07.188" v="61" actId="20577"/>
        <pc:sldMkLst>
          <pc:docMk/>
          <pc:sldMk cId="0" sldId="267"/>
        </pc:sldMkLst>
      </pc:sldChg>
      <pc:sldChg chg="modNotesTx">
        <pc:chgData name="Imene BELHOCINE" userId="e37e8402-5311-406e-9548-87222291f0f9" providerId="ADAL" clId="{D63CC582-91E3-4D3B-90F1-775970AA34C9}" dt="2026-07-07T17:23:09.683" v="62" actId="20577"/>
        <pc:sldMkLst>
          <pc:docMk/>
          <pc:sldMk cId="0" sldId="26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358199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jpg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29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783080"/>
            <a:ext cx="10332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ADCFC"/>
                </a:solidFill>
                <a:latin typeface="Calibri"/>
              </a:rPr>
              <a:t>Workshop client  ·  MBA M2 Big Data &amp; 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33272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200" b="1">
                <a:solidFill>
                  <a:srgbClr val="FFFFFF"/>
                </a:solidFill>
                <a:latin typeface="Cambria"/>
              </a:rPr>
              <a:t>Potentiel photovoltaïque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200" b="1">
                <a:solidFill>
                  <a:srgbClr val="FFFFFF"/>
                </a:solidFill>
                <a:latin typeface="Cambria"/>
              </a:rPr>
              <a:t>des toitures tertiaires en France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332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CADCFC"/>
                </a:solidFill>
                <a:latin typeface="Calibri"/>
              </a:rPr>
              <a:t>Où, et à quelles conditions, est-ce rentable ? — une analyse par département.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212080"/>
            <a:ext cx="103327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Client : Oxand — logiciel Simeo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9EB2C9"/>
                </a:solidFill>
                <a:latin typeface="Calibri"/>
              </a:rPr>
              <a:t>Imene BELHOCINE   ·   Juillet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6400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293D"/>
                </a:solidFill>
                <a:latin typeface="Cambria"/>
              </a:rPr>
              <a:t>Le client : Oxand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783080"/>
            <a:ext cx="6400800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300"/>
              </a:spcAft>
            </a:pPr>
            <a:r>
              <a:rPr sz="1700" b="1">
                <a:solidFill>
                  <a:srgbClr val="F2A900"/>
                </a:solidFill>
                <a:latin typeface="Calibri"/>
              </a:rPr>
              <a:t>•  </a:t>
            </a:r>
            <a:r>
              <a:rPr sz="1700" b="0">
                <a:solidFill>
                  <a:srgbClr val="222B36"/>
                </a:solidFill>
                <a:latin typeface="Calibri"/>
              </a:rPr>
              <a:t>Oxand — gestion du patrimoine bâti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300"/>
              </a:spcAft>
            </a:pPr>
            <a:r>
              <a:rPr sz="1700" b="1">
                <a:solidFill>
                  <a:srgbClr val="F2A900"/>
                </a:solidFill>
                <a:latin typeface="Calibri"/>
              </a:rPr>
              <a:t>•  </a:t>
            </a:r>
            <a:r>
              <a:rPr sz="1700" b="0">
                <a:solidFill>
                  <a:srgbClr val="222B36"/>
                </a:solidFill>
                <a:latin typeface="Calibri"/>
              </a:rPr>
              <a:t>Anticiper les coûts, rénover au bon moment, prolonger la durée de vie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300"/>
              </a:spcAft>
            </a:pPr>
            <a:r>
              <a:rPr sz="1700" b="1">
                <a:solidFill>
                  <a:srgbClr val="F2A900"/>
                </a:solidFill>
                <a:latin typeface="Calibri"/>
              </a:rPr>
              <a:t>•  </a:t>
            </a:r>
            <a:r>
              <a:rPr sz="1700" b="0">
                <a:solidFill>
                  <a:srgbClr val="222B36"/>
                </a:solidFill>
                <a:latin typeface="Calibri"/>
              </a:rPr>
              <a:t>Simeo — son logiciel : simule les gains d'une rénovation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300"/>
              </a:spcAft>
            </a:pPr>
            <a:r>
              <a:rPr sz="1700" b="1">
                <a:solidFill>
                  <a:srgbClr val="F2A900"/>
                </a:solidFill>
                <a:latin typeface="Calibri"/>
              </a:rPr>
              <a:t>•  </a:t>
            </a:r>
            <a:r>
              <a:rPr sz="1700" b="0">
                <a:solidFill>
                  <a:srgbClr val="222B36"/>
                </a:solidFill>
                <a:latin typeface="Calibri"/>
              </a:rPr>
              <a:t>→ le point de départ de mon projet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80960" y="1691640"/>
            <a:ext cx="3566160" cy="3291840"/>
          </a:xfrm>
          <a:prstGeom prst="roundRect">
            <a:avLst/>
          </a:prstGeom>
          <a:solidFill>
            <a:srgbClr val="12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01000" y="2011680"/>
            <a:ext cx="2926080" cy="274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Simeo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2200" b="1">
              <a:solidFill>
                <a:srgbClr val="FFFFFF"/>
              </a:solidFill>
              <a:latin typeface="Cambria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E6EDF4"/>
                </a:solidFill>
                <a:latin typeface="Calibri"/>
              </a:rPr>
              <a:t>L'outil d'Oxand pour chiffrer les économies d'énergie liées à la rénovation.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6400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293D"/>
                </a:solidFill>
                <a:latin typeface="Cambria"/>
              </a:rPr>
              <a:t>Le besoin d'Oxand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783080"/>
            <a:ext cx="1005840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F2A900"/>
                </a:solidFill>
                <a:latin typeface="Calibri"/>
              </a:rPr>
              <a:t>•  </a:t>
            </a:r>
            <a:r>
              <a:rPr sz="1600" b="0">
                <a:solidFill>
                  <a:srgbClr val="222B36"/>
                </a:solidFill>
                <a:latin typeface="Calibri"/>
              </a:rPr>
              <a:t>Simeo sait chiffrer : </a:t>
            </a:r>
            <a:r>
              <a:rPr sz="1600" b="1">
                <a:solidFill>
                  <a:srgbClr val="222B36"/>
                </a:solidFill>
                <a:latin typeface="Calibri"/>
              </a:rPr>
              <a:t>consommer moins</a:t>
            </a:r>
            <a:r>
              <a:rPr sz="1600" b="0">
                <a:solidFill>
                  <a:srgbClr val="222B36"/>
                </a:solidFill>
                <a:latin typeface="Calibri"/>
              </a:rPr>
              <a:t> (isolation, ventilation)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F2A900"/>
                </a:solidFill>
                <a:latin typeface="Calibri"/>
              </a:rPr>
              <a:t>•  </a:t>
            </a:r>
            <a:r>
              <a:rPr sz="1600" b="0">
                <a:solidFill>
                  <a:srgbClr val="222B36"/>
                </a:solidFill>
                <a:latin typeface="Calibri"/>
              </a:rPr>
              <a:t>Pas encore : </a:t>
            </a:r>
            <a:r>
              <a:rPr sz="1600" b="1">
                <a:solidFill>
                  <a:srgbClr val="222B36"/>
                </a:solidFill>
                <a:latin typeface="Calibri"/>
              </a:rPr>
              <a:t>produire sa propre énergie</a:t>
            </a:r>
            <a:r>
              <a:rPr sz="1600" b="0">
                <a:solidFill>
                  <a:srgbClr val="222B36"/>
                </a:solidFill>
                <a:latin typeface="Calibri"/>
              </a:rPr>
              <a:t> → le solaire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F2A900"/>
                </a:solidFill>
                <a:latin typeface="Calibri"/>
              </a:rPr>
              <a:t>•  </a:t>
            </a:r>
            <a:r>
              <a:rPr sz="1600" b="0">
                <a:solidFill>
                  <a:srgbClr val="222B36"/>
                </a:solidFill>
                <a:latin typeface="Calibri"/>
              </a:rPr>
              <a:t>Pourquoi maintenant : obligations (loi APER) + prix des panneaux en baisse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3840480"/>
            <a:ext cx="10332720" cy="1371600"/>
          </a:xfrm>
          <a:prstGeom prst="round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280160" y="4114800"/>
            <a:ext cx="96926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7C7B"/>
                </a:solidFill>
                <a:latin typeface="Calibri"/>
              </a:rPr>
              <a:t>Le besoin  </a:t>
            </a:r>
            <a:r>
              <a:rPr sz="1500" b="0">
                <a:solidFill>
                  <a:srgbClr val="222B36"/>
                </a:solidFill>
                <a:latin typeface="Calibri"/>
              </a:rPr>
              <a:t>— aider Oxand à savoir si le solaire en toiture tertiaire vaut le coup, pour préparer son intégration future dans Simeo.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6400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293D"/>
                </a:solidFill>
                <a:latin typeface="Cambria"/>
              </a:rPr>
              <a:t>Définition du besoin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24128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F2A900"/>
                </a:solidFill>
                <a:latin typeface="Calibri"/>
              </a:rPr>
              <a:t>•  </a:t>
            </a:r>
            <a:r>
              <a:rPr sz="1600" b="0">
                <a:solidFill>
                  <a:srgbClr val="222B36"/>
                </a:solidFill>
                <a:latin typeface="Calibri"/>
              </a:rPr>
              <a:t>Objectif : estimer la production + la rentabilité, par département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F2A900"/>
                </a:solidFill>
                <a:latin typeface="Calibri"/>
              </a:rPr>
              <a:t>•  </a:t>
            </a:r>
            <a:r>
              <a:rPr sz="1600" b="0">
                <a:solidFill>
                  <a:srgbClr val="222B36"/>
                </a:solidFill>
                <a:latin typeface="Calibri"/>
              </a:rPr>
              <a:t>Département par département → voir les écarts Nord / Sud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703320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47486"/>
                </a:solidFill>
                <a:latin typeface="Calibri"/>
              </a:rPr>
              <a:t>ZONE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069080"/>
            <a:ext cx="33832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2293D"/>
                </a:solidFill>
                <a:latin typeface="Cambria"/>
              </a:rPr>
              <a:t>France métropolitaine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34840" y="3703320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47486"/>
                </a:solidFill>
                <a:latin typeface="Calibri"/>
              </a:rPr>
              <a:t>MAILLE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34840" y="4069080"/>
            <a:ext cx="33832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2293D"/>
                </a:solidFill>
                <a:latin typeface="Cambria"/>
              </a:rPr>
              <a:t>le département (~96)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3703320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47486"/>
                </a:solidFill>
                <a:latin typeface="Calibri"/>
              </a:rPr>
              <a:t>CIBLE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4069080"/>
            <a:ext cx="33832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2293D"/>
                </a:solidFill>
                <a:latin typeface="Cambria"/>
              </a:rPr>
              <a:t>toitures tertiaires (9–500 kWc)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5029200"/>
            <a:ext cx="10332720" cy="1051560"/>
          </a:xfrm>
          <a:prstGeom prst="round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80160" y="5230368"/>
            <a:ext cx="96926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2B36"/>
                </a:solidFill>
                <a:latin typeface="Calibri"/>
              </a:rPr>
              <a:t>Le projet caractérise le « terrain de jeu » — il ne construit pas le module Simeo.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6400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293D"/>
                </a:solidFill>
                <a:latin typeface="Cambria"/>
              </a:rPr>
              <a:t>Comment j'ai procédé</a:t>
            </a:r>
          </a:p>
        </p:txBody>
      </p:sp>
      <p:sp>
        <p:nvSpPr>
          <p:cNvPr id="3" name="Oval 2"/>
          <p:cNvSpPr/>
          <p:nvPr/>
        </p:nvSpPr>
        <p:spPr>
          <a:xfrm>
            <a:off x="914400" y="2194560"/>
            <a:ext cx="548640" cy="548640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219456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226771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2293D"/>
                </a:solidFill>
                <a:latin typeface="Cambria"/>
              </a:rPr>
              <a:t>Estimer la 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03320"/>
            <a:ext cx="2267712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Données officielles PVGIS, pour chaque département.</a:t>
            </a:r>
          </a:p>
        </p:txBody>
      </p:sp>
      <p:sp>
        <p:nvSpPr>
          <p:cNvPr id="7" name="Chevron 6"/>
          <p:cNvSpPr/>
          <p:nvPr/>
        </p:nvSpPr>
        <p:spPr>
          <a:xfrm>
            <a:off x="2999232" y="2286000"/>
            <a:ext cx="365760" cy="384048"/>
          </a:xfrm>
          <a:prstGeom prst="chevron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3502152" y="2194560"/>
            <a:ext cx="548640" cy="548640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502152" y="219456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2152" y="2971800"/>
            <a:ext cx="226771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2293D"/>
                </a:solidFill>
                <a:latin typeface="Cambria"/>
              </a:rPr>
              <a:t>Chiffrer coûts &amp; revenus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02152" y="3703320"/>
            <a:ext cx="2267712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Investissement, entretien, électricité, sur 25 ans.</a:t>
            </a:r>
          </a:p>
        </p:txBody>
      </p:sp>
      <p:sp>
        <p:nvSpPr>
          <p:cNvPr id="12" name="Chevron 11"/>
          <p:cNvSpPr/>
          <p:nvPr/>
        </p:nvSpPr>
        <p:spPr>
          <a:xfrm>
            <a:off x="5586984" y="2286000"/>
            <a:ext cx="365760" cy="384048"/>
          </a:xfrm>
          <a:prstGeom prst="chevron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089904" y="2194560"/>
            <a:ext cx="548640" cy="548640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089904" y="219456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9904" y="2971800"/>
            <a:ext cx="226771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2293D"/>
                </a:solidFill>
                <a:latin typeface="Cambria"/>
              </a:rPr>
              <a:t>En déduire la rentabilité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9904" y="3703320"/>
            <a:ext cx="2267712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Prix de revient, temps de retour, rendement, gain.</a:t>
            </a:r>
          </a:p>
        </p:txBody>
      </p:sp>
      <p:sp>
        <p:nvSpPr>
          <p:cNvPr id="17" name="Chevron 16"/>
          <p:cNvSpPr/>
          <p:nvPr/>
        </p:nvSpPr>
        <p:spPr>
          <a:xfrm>
            <a:off x="8174736" y="2286000"/>
            <a:ext cx="365760" cy="384048"/>
          </a:xfrm>
          <a:prstGeom prst="chevron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8677656" y="2194560"/>
            <a:ext cx="548640" cy="548640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77656" y="219456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77656" y="2971800"/>
            <a:ext cx="226771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2293D"/>
                </a:solidFill>
                <a:latin typeface="Cambria"/>
              </a:rPr>
              <a:t>Rendre lisible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77656" y="3703320"/>
            <a:ext cx="2267712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Une cartographie + un outil interactif.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6400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293D"/>
                </a:solidFill>
                <a:latin typeface="Cambria"/>
              </a:rPr>
              <a:t>Les données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508760"/>
            <a:ext cx="102412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22B36"/>
                </a:solidFill>
                <a:latin typeface="Calibri"/>
              </a:rPr>
              <a:t>Je distingue clairement les </a:t>
            </a:r>
            <a:r>
              <a:rPr sz="1500" b="1">
                <a:solidFill>
                  <a:srgbClr val="0E7C7B"/>
                </a:solidFill>
                <a:latin typeface="Calibri"/>
              </a:rPr>
              <a:t>faits</a:t>
            </a:r>
            <a:r>
              <a:rPr sz="1500" b="0">
                <a:solidFill>
                  <a:srgbClr val="222B36"/>
                </a:solidFill>
                <a:latin typeface="Calibri"/>
              </a:rPr>
              <a:t>, les </a:t>
            </a:r>
            <a:r>
              <a:rPr sz="1500" b="1">
                <a:solidFill>
                  <a:srgbClr val="F2A900"/>
                </a:solidFill>
                <a:latin typeface="Calibri"/>
              </a:rPr>
              <a:t>hypothèses</a:t>
            </a:r>
            <a:r>
              <a:rPr sz="1500" b="0">
                <a:solidFill>
                  <a:srgbClr val="222B36"/>
                </a:solidFill>
                <a:latin typeface="Calibri"/>
              </a:rPr>
              <a:t> et les </a:t>
            </a:r>
            <a:r>
              <a:rPr sz="1500" b="1">
                <a:solidFill>
                  <a:srgbClr val="0E7C7B"/>
                </a:solidFill>
                <a:latin typeface="Calibri"/>
              </a:rPr>
              <a:t>calculs</a:t>
            </a:r>
            <a:r>
              <a:rPr sz="1500" b="0">
                <a:solidFill>
                  <a:srgbClr val="222B36"/>
                </a:solidFill>
                <a:latin typeface="Calibri"/>
              </a:rPr>
              <a:t>.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5120640" cy="457200"/>
          </a:xfrm>
          <a:prstGeom prst="rect">
            <a:avLst/>
          </a:prstGeom>
          <a:solidFill>
            <a:srgbClr val="12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51560" y="2286000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Information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0" y="2286000"/>
            <a:ext cx="3840480" cy="457200"/>
          </a:xfrm>
          <a:prstGeom prst="rect">
            <a:avLst/>
          </a:prstGeom>
          <a:solidFill>
            <a:srgbClr val="12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172200" y="2286000"/>
            <a:ext cx="35661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D'où elle vient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9875520" y="2286000"/>
            <a:ext cx="1371600" cy="457200"/>
          </a:xfrm>
          <a:prstGeom prst="rect">
            <a:avLst/>
          </a:prstGeom>
          <a:solidFill>
            <a:srgbClr val="12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12680" y="2286000"/>
            <a:ext cx="10972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Nature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743200"/>
            <a:ext cx="5120640" cy="566928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51560" y="2743200"/>
            <a:ext cx="48463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La production des panneaux (par département)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0" y="2743200"/>
            <a:ext cx="3840480" cy="566928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72200" y="2743200"/>
            <a:ext cx="35661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Source officielle PVGIS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875520" y="2743200"/>
            <a:ext cx="1371600" cy="566928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12680" y="2743200"/>
            <a:ext cx="10972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7C7B"/>
                </a:solidFill>
                <a:latin typeface="Calibri"/>
              </a:rPr>
              <a:t>Réel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3310128"/>
            <a:ext cx="51206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51560" y="3310128"/>
            <a:ext cx="48463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La carte des départements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3310128"/>
            <a:ext cx="38404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172200" y="3310128"/>
            <a:ext cx="35661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Fichier géographique officiel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875520" y="3310128"/>
            <a:ext cx="13716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012680" y="3310128"/>
            <a:ext cx="10972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7C7B"/>
                </a:solidFill>
                <a:latin typeface="Calibri"/>
              </a:rPr>
              <a:t>Réel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3877056"/>
            <a:ext cx="5120640" cy="566928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51560" y="3877056"/>
            <a:ext cx="48463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Les coûts et les tarifs de l'électricité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35040" y="3877056"/>
            <a:ext cx="3840480" cy="566928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172200" y="3877056"/>
            <a:ext cx="35661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Estimations de la note de cadrage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875520" y="3877056"/>
            <a:ext cx="1371600" cy="566928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012680" y="3877056"/>
            <a:ext cx="10972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2A900"/>
                </a:solidFill>
                <a:latin typeface="Calibri"/>
              </a:rPr>
              <a:t>Hypothèse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4443983"/>
            <a:ext cx="51206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51560" y="4443983"/>
            <a:ext cx="48463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La rentabilité (prix de revient, gain…)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35040" y="4443983"/>
            <a:ext cx="38404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172200" y="4443983"/>
            <a:ext cx="35661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Mon modèle de calcul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875520" y="4443983"/>
            <a:ext cx="13716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0012680" y="4443983"/>
            <a:ext cx="10972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7C7B"/>
                </a:solidFill>
                <a:latin typeface="Calibri"/>
              </a:rPr>
              <a:t>Calculé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6400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2293D"/>
                </a:solidFill>
                <a:latin typeface="Cambria"/>
              </a:rPr>
              <a:t>Les hypothèses clés — et d'où elles viennent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508760"/>
            <a:ext cx="10424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47486"/>
                </a:solidFill>
                <a:latin typeface="Calibri"/>
              </a:rPr>
              <a:t>Tous les chiffres du modèle sont explicites et assumés comme des hypothèses.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3657600" cy="502920"/>
          </a:xfrm>
          <a:prstGeom prst="rect">
            <a:avLst/>
          </a:prstGeom>
          <a:solidFill>
            <a:srgbClr val="12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51560" y="2286000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Hypothèse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0" y="2286000"/>
            <a:ext cx="2377440" cy="502920"/>
          </a:xfrm>
          <a:prstGeom prst="rect">
            <a:avLst/>
          </a:prstGeom>
          <a:solidFill>
            <a:srgbClr val="12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709160" y="2286000"/>
            <a:ext cx="21031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Valeur</a:t>
            </a:r>
          </a:p>
        </p:txBody>
      </p:sp>
      <p:sp>
        <p:nvSpPr>
          <p:cNvPr id="8" name="Rectangle 7"/>
          <p:cNvSpPr/>
          <p:nvPr/>
        </p:nvSpPr>
        <p:spPr>
          <a:xfrm>
            <a:off x="6949440" y="2286000"/>
            <a:ext cx="4389120" cy="502920"/>
          </a:xfrm>
          <a:prstGeom prst="rect">
            <a:avLst/>
          </a:prstGeom>
          <a:solidFill>
            <a:srgbClr val="12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086600" y="2286000"/>
            <a:ext cx="4114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D'où ça vient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788920"/>
            <a:ext cx="365760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51560" y="2788920"/>
            <a:ext cx="338328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Durée de vie analysée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2788920"/>
            <a:ext cx="237744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709160" y="2788920"/>
            <a:ext cx="210312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7C7B"/>
                </a:solidFill>
                <a:latin typeface="Calibri"/>
              </a:rPr>
              <a:t>25 ans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49440" y="2788920"/>
            <a:ext cx="438912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086600" y="2788920"/>
            <a:ext cx="411480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Durée de vie standard des panneaux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3319272"/>
            <a:ext cx="365760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51560" y="3319272"/>
            <a:ext cx="338328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Prix de l'électricité réseau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3319272"/>
            <a:ext cx="237744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709160" y="3319272"/>
            <a:ext cx="210312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7C7B"/>
                </a:solidFill>
                <a:latin typeface="Calibri"/>
              </a:rPr>
              <a:t>~20 c/kWh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49440" y="3319272"/>
            <a:ext cx="43891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086600" y="3319272"/>
            <a:ext cx="411480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Prix moyen évité en tertiaire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3849624"/>
            <a:ext cx="365760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51560" y="3849624"/>
            <a:ext cx="338328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Tarif de revente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0" y="3849624"/>
            <a:ext cx="237744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709160" y="3849624"/>
            <a:ext cx="210312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7C7B"/>
                </a:solidFill>
                <a:latin typeface="Calibri"/>
              </a:rPr>
              <a:t>8–13 c/kWh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949440" y="3849624"/>
            <a:ext cx="438912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086600" y="3849624"/>
            <a:ext cx="411480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Arrêté tarifaire S21 (réglementé)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4379975"/>
            <a:ext cx="365760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51560" y="4379975"/>
            <a:ext cx="338328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Coût d'installation (CAPEX)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0" y="4379975"/>
            <a:ext cx="237744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709160" y="4379975"/>
            <a:ext cx="210312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7C7B"/>
                </a:solidFill>
                <a:latin typeface="Calibri"/>
              </a:rPr>
              <a:t>1100–1850 €/kWc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949440" y="4379975"/>
            <a:ext cx="43891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086600" y="4379975"/>
            <a:ext cx="411480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Fourchettes de marché selon la taille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4400" y="4910327"/>
            <a:ext cx="365760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51560" y="4910327"/>
            <a:ext cx="338328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Entretien (OPEX)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0" y="4910327"/>
            <a:ext cx="237744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709160" y="4910327"/>
            <a:ext cx="210312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7C7B"/>
                </a:solidFill>
                <a:latin typeface="Calibri"/>
              </a:rPr>
              <a:t>1,5 %/an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49440" y="4910327"/>
            <a:ext cx="438912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086600" y="4910327"/>
            <a:ext cx="411480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Maintenance courante d'une installation PV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" y="5440679"/>
            <a:ext cx="365760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051560" y="5440679"/>
            <a:ext cx="338328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Taux d'autoconsommation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0" y="5440679"/>
            <a:ext cx="237744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709160" y="5440679"/>
            <a:ext cx="210312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7C7B"/>
                </a:solidFill>
                <a:latin typeface="Calibri"/>
              </a:rPr>
              <a:t>65 %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949440" y="5440679"/>
            <a:ext cx="43891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086600" y="5440679"/>
            <a:ext cx="411480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Usage réaliste pour du tertiaire</a:t>
            </a:r>
          </a:p>
        </p:txBody>
      </p:sp>
      <p:sp>
        <p:nvSpPr>
          <p:cNvPr id="47" name="TextBox 18"/>
          <p:cNvSpPr txBox="1"/>
          <p:nvPr/>
        </p:nvSpPr>
        <p:spPr>
          <a:xfrm>
            <a:off x="4709160" y="3319272"/>
            <a:ext cx="210312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7C7B"/>
                </a:solidFill>
                <a:latin typeface="Calibri"/>
              </a:rPr>
              <a:t>~20 c/kWh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49440" y="3319272"/>
            <a:ext cx="43891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20"/>
          <p:cNvSpPr txBox="1"/>
          <p:nvPr/>
        </p:nvSpPr>
        <p:spPr>
          <a:xfrm>
            <a:off x="7086600" y="3319272"/>
            <a:ext cx="411480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Prix moyen évité en tertiaire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4400" y="3849624"/>
            <a:ext cx="365760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22"/>
          <p:cNvSpPr txBox="1"/>
          <p:nvPr/>
        </p:nvSpPr>
        <p:spPr>
          <a:xfrm>
            <a:off x="1051560" y="3849624"/>
            <a:ext cx="338328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Tarif de revente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0" y="3849624"/>
            <a:ext cx="237744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24"/>
          <p:cNvSpPr txBox="1"/>
          <p:nvPr/>
        </p:nvSpPr>
        <p:spPr>
          <a:xfrm>
            <a:off x="4709160" y="3849624"/>
            <a:ext cx="210312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7C7B"/>
                </a:solidFill>
                <a:latin typeface="Calibri"/>
              </a:rPr>
              <a:t>8–13 c/kWh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949440" y="3849624"/>
            <a:ext cx="438912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26"/>
          <p:cNvSpPr txBox="1"/>
          <p:nvPr/>
        </p:nvSpPr>
        <p:spPr>
          <a:xfrm>
            <a:off x="7086600" y="3849624"/>
            <a:ext cx="411480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Arrêté tarifaire S21 (réglementé)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14400" y="4379975"/>
            <a:ext cx="365760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28"/>
          <p:cNvSpPr txBox="1"/>
          <p:nvPr/>
        </p:nvSpPr>
        <p:spPr>
          <a:xfrm>
            <a:off x="1051560" y="4379975"/>
            <a:ext cx="338328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Coût d'installation (CAPEX)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72000" y="4379975"/>
            <a:ext cx="237744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30"/>
          <p:cNvSpPr txBox="1"/>
          <p:nvPr/>
        </p:nvSpPr>
        <p:spPr>
          <a:xfrm>
            <a:off x="4709160" y="4379975"/>
            <a:ext cx="210312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7C7B"/>
                </a:solidFill>
                <a:latin typeface="Calibri"/>
              </a:rPr>
              <a:t>1100–1850 €/kWc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949440" y="4379975"/>
            <a:ext cx="43891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32"/>
          <p:cNvSpPr txBox="1"/>
          <p:nvPr/>
        </p:nvSpPr>
        <p:spPr>
          <a:xfrm>
            <a:off x="7086600" y="4379975"/>
            <a:ext cx="411480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Fourchettes de marché selon la taille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14400" y="4910327"/>
            <a:ext cx="365760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34"/>
          <p:cNvSpPr txBox="1"/>
          <p:nvPr/>
        </p:nvSpPr>
        <p:spPr>
          <a:xfrm>
            <a:off x="1051560" y="4910327"/>
            <a:ext cx="338328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Entretien (OPEX)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72000" y="4910327"/>
            <a:ext cx="237744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36"/>
          <p:cNvSpPr txBox="1"/>
          <p:nvPr/>
        </p:nvSpPr>
        <p:spPr>
          <a:xfrm>
            <a:off x="4709160" y="4910327"/>
            <a:ext cx="210312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7C7B"/>
                </a:solidFill>
                <a:latin typeface="Calibri"/>
              </a:rPr>
              <a:t>1,5 %/an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949440" y="4910327"/>
            <a:ext cx="438912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38"/>
          <p:cNvSpPr txBox="1"/>
          <p:nvPr/>
        </p:nvSpPr>
        <p:spPr>
          <a:xfrm>
            <a:off x="7086600" y="4910327"/>
            <a:ext cx="411480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Maintenance courante d'une installation PV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14400" y="5440679"/>
            <a:ext cx="365760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40"/>
          <p:cNvSpPr txBox="1"/>
          <p:nvPr/>
        </p:nvSpPr>
        <p:spPr>
          <a:xfrm>
            <a:off x="1051560" y="5440679"/>
            <a:ext cx="338328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Taux d'autoconsommation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72000" y="5440679"/>
            <a:ext cx="237744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42"/>
          <p:cNvSpPr txBox="1"/>
          <p:nvPr/>
        </p:nvSpPr>
        <p:spPr>
          <a:xfrm>
            <a:off x="4709160" y="5440679"/>
            <a:ext cx="210312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7C7B"/>
                </a:solidFill>
                <a:latin typeface="Calibri"/>
              </a:rPr>
              <a:t>65 %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949440" y="5440679"/>
            <a:ext cx="43891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44"/>
          <p:cNvSpPr txBox="1"/>
          <p:nvPr/>
        </p:nvSpPr>
        <p:spPr>
          <a:xfrm>
            <a:off x="7086600" y="5440679"/>
            <a:ext cx="411480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Usage réaliste pour du tertiaire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6400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293D"/>
                </a:solidFill>
                <a:latin typeface="Cambria"/>
              </a:rPr>
              <a:t>Les indicateurs de rentabilité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197" y="2323251"/>
            <a:ext cx="2606040" cy="2926080"/>
          </a:xfrm>
          <a:prstGeom prst="roundRect">
            <a:avLst/>
          </a:prstGeom>
          <a:solidFill>
            <a:srgbClr val="F5F8F7"/>
          </a:solidFill>
          <a:ln>
            <a:noFill/>
          </a:ln>
          <a:effectLst>
            <a:outerShdw blurRad="60000" dist="20000" dir="5400000" rotWithShape="0">
              <a:srgbClr val="12293D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2"/>
          <p:cNvSpPr/>
          <p:nvPr/>
        </p:nvSpPr>
        <p:spPr>
          <a:xfrm>
            <a:off x="457197" y="2323251"/>
            <a:ext cx="2606040" cy="2926080"/>
          </a:xfrm>
          <a:prstGeom prst="roundRect">
            <a:avLst/>
          </a:prstGeom>
          <a:solidFill>
            <a:srgbClr val="F5F8F7"/>
          </a:solidFill>
          <a:ln>
            <a:noFill/>
          </a:ln>
          <a:effectLst>
            <a:outerShdw blurRad="60000" dist="20000" dir="5400000" rotWithShape="0">
              <a:srgbClr val="12293D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197" y="2643292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E7C7B"/>
                </a:solidFill>
                <a:latin typeface="Cambria"/>
              </a:rPr>
              <a:t>LCOE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197" y="3374811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2293D"/>
                </a:solidFill>
                <a:latin typeface="Cambria"/>
              </a:rPr>
              <a:t>Prix de revient</a:t>
            </a:r>
          </a:p>
        </p:txBody>
      </p:sp>
      <p:sp>
        <p:nvSpPr>
          <p:cNvPr id="20" name="TextBox 4"/>
          <p:cNvSpPr txBox="1"/>
          <p:nvPr/>
        </p:nvSpPr>
        <p:spPr>
          <a:xfrm>
            <a:off x="457197" y="3374811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2293D"/>
                </a:solidFill>
                <a:latin typeface="Cambria"/>
              </a:rPr>
              <a:t>Prix de revient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797" y="3923452"/>
            <a:ext cx="21488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Ce que coûte 1 kWh que je produis. À comparer aux ~20 c du réseau.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7557" y="2323251"/>
            <a:ext cx="2606040" cy="2926080"/>
          </a:xfrm>
          <a:prstGeom prst="roundRect">
            <a:avLst/>
          </a:prstGeom>
          <a:solidFill>
            <a:srgbClr val="F5F8F7"/>
          </a:solidFill>
          <a:ln>
            <a:noFill/>
          </a:ln>
          <a:effectLst>
            <a:outerShdw blurRad="60000" dist="20000" dir="5400000" rotWithShape="0">
              <a:srgbClr val="12293D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6"/>
          <p:cNvSpPr/>
          <p:nvPr/>
        </p:nvSpPr>
        <p:spPr>
          <a:xfrm>
            <a:off x="3337557" y="2323251"/>
            <a:ext cx="2606040" cy="2926080"/>
          </a:xfrm>
          <a:prstGeom prst="roundRect">
            <a:avLst/>
          </a:prstGeom>
          <a:solidFill>
            <a:srgbClr val="F5F8F7"/>
          </a:solidFill>
          <a:ln>
            <a:noFill/>
          </a:ln>
          <a:effectLst>
            <a:outerShdw blurRad="60000" dist="20000" dir="5400000" rotWithShape="0">
              <a:srgbClr val="12293D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337557" y="2643292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E7C7B"/>
                </a:solidFill>
                <a:latin typeface="Cambria"/>
              </a:rPr>
              <a:t>Payback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7557" y="3374811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2293D"/>
                </a:solidFill>
                <a:latin typeface="Cambria"/>
              </a:rPr>
              <a:t>Temps de retour</a:t>
            </a:r>
          </a:p>
        </p:txBody>
      </p:sp>
      <p:sp>
        <p:nvSpPr>
          <p:cNvPr id="22" name="TextBox 8"/>
          <p:cNvSpPr txBox="1"/>
          <p:nvPr/>
        </p:nvSpPr>
        <p:spPr>
          <a:xfrm>
            <a:off x="3337557" y="3374811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2293D"/>
                </a:solidFill>
                <a:latin typeface="Cambria"/>
              </a:rPr>
              <a:t>Temps de retour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57" y="3923452"/>
            <a:ext cx="21488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Le nombre d'années pour rembourser l'installation.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17" y="2323251"/>
            <a:ext cx="2606040" cy="2926080"/>
          </a:xfrm>
          <a:prstGeom prst="roundRect">
            <a:avLst/>
          </a:prstGeom>
          <a:solidFill>
            <a:srgbClr val="F5F8F7"/>
          </a:solidFill>
          <a:ln>
            <a:noFill/>
          </a:ln>
          <a:effectLst>
            <a:outerShdw blurRad="60000" dist="20000" dir="5400000" rotWithShape="0">
              <a:srgbClr val="12293D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17" y="2643292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E7C7B"/>
                </a:solidFill>
                <a:latin typeface="Cambria"/>
              </a:rPr>
              <a:t>TRI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17" y="3374811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2293D"/>
                </a:solidFill>
                <a:latin typeface="Cambria"/>
              </a:rPr>
              <a:t>Rendement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17" y="3923452"/>
            <a:ext cx="21488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Ce que ça rapporte par an, en %, comme un placement.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98277" y="2323251"/>
            <a:ext cx="2606040" cy="2926080"/>
          </a:xfrm>
          <a:prstGeom prst="roundRect">
            <a:avLst/>
          </a:prstGeom>
          <a:solidFill>
            <a:srgbClr val="F5F8F7"/>
          </a:solidFill>
          <a:ln>
            <a:noFill/>
          </a:ln>
          <a:effectLst>
            <a:outerShdw blurRad="60000" dist="20000" dir="5400000" rotWithShape="0">
              <a:srgbClr val="12293D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098277" y="2643292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E7C7B"/>
                </a:solidFill>
                <a:latin typeface="Cambria"/>
              </a:rPr>
              <a:t>VAN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98277" y="3374811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2293D"/>
                </a:solidFill>
                <a:latin typeface="Cambria"/>
              </a:rPr>
              <a:t>Gain total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77" y="3923452"/>
            <a:ext cx="21488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Ce que je gagne au final, en euros d'aujourd'hui.</a:t>
            </a:r>
          </a:p>
        </p:txBody>
      </p:sp>
      <p:sp>
        <p:nvSpPr>
          <p:cNvPr id="23" name="TextBox 11"/>
          <p:cNvSpPr txBox="1"/>
          <p:nvPr/>
        </p:nvSpPr>
        <p:spPr>
          <a:xfrm>
            <a:off x="6217917" y="2643292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E7C7B"/>
                </a:solidFill>
                <a:latin typeface="Cambria"/>
              </a:rPr>
              <a:t>TRI</a:t>
            </a:r>
          </a:p>
        </p:txBody>
      </p:sp>
      <p:sp>
        <p:nvSpPr>
          <p:cNvPr id="24" name="TextBox 12"/>
          <p:cNvSpPr txBox="1"/>
          <p:nvPr/>
        </p:nvSpPr>
        <p:spPr>
          <a:xfrm>
            <a:off x="6217917" y="3374811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2293D"/>
                </a:solidFill>
                <a:latin typeface="Cambria"/>
              </a:rPr>
              <a:t>Rendement</a:t>
            </a:r>
          </a:p>
        </p:txBody>
      </p:sp>
      <p:sp>
        <p:nvSpPr>
          <p:cNvPr id="25" name="TextBox 13"/>
          <p:cNvSpPr txBox="1"/>
          <p:nvPr/>
        </p:nvSpPr>
        <p:spPr>
          <a:xfrm>
            <a:off x="6446517" y="3923452"/>
            <a:ext cx="21488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Ce que ça rapporte par an, en %, comme un placement.</a:t>
            </a:r>
          </a:p>
        </p:txBody>
      </p:sp>
      <p:sp>
        <p:nvSpPr>
          <p:cNvPr id="26" name="Rounded Rectangle 14"/>
          <p:cNvSpPr/>
          <p:nvPr/>
        </p:nvSpPr>
        <p:spPr>
          <a:xfrm>
            <a:off x="9098277" y="2323251"/>
            <a:ext cx="2606040" cy="2926080"/>
          </a:xfrm>
          <a:prstGeom prst="roundRect">
            <a:avLst/>
          </a:prstGeom>
          <a:solidFill>
            <a:srgbClr val="F5F8F7"/>
          </a:solidFill>
          <a:ln>
            <a:noFill/>
          </a:ln>
          <a:effectLst>
            <a:outerShdw blurRad="60000" dist="20000" dir="5400000" rotWithShape="0">
              <a:srgbClr val="12293D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15"/>
          <p:cNvSpPr txBox="1"/>
          <p:nvPr/>
        </p:nvSpPr>
        <p:spPr>
          <a:xfrm>
            <a:off x="9098277" y="2643292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E7C7B"/>
                </a:solidFill>
                <a:latin typeface="Cambria"/>
              </a:rPr>
              <a:t>VAN</a:t>
            </a:r>
          </a:p>
        </p:txBody>
      </p:sp>
      <p:sp>
        <p:nvSpPr>
          <p:cNvPr id="28" name="TextBox 16"/>
          <p:cNvSpPr txBox="1"/>
          <p:nvPr/>
        </p:nvSpPr>
        <p:spPr>
          <a:xfrm>
            <a:off x="9098277" y="3374811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2293D"/>
                </a:solidFill>
                <a:latin typeface="Cambria"/>
              </a:rPr>
              <a:t>Gain total</a:t>
            </a:r>
          </a:p>
        </p:txBody>
      </p:sp>
      <p:sp>
        <p:nvSpPr>
          <p:cNvPr id="29" name="TextBox 17"/>
          <p:cNvSpPr txBox="1"/>
          <p:nvPr/>
        </p:nvSpPr>
        <p:spPr>
          <a:xfrm>
            <a:off x="9326877" y="3923452"/>
            <a:ext cx="21488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Ce que je gagne au final, en euros d'aujourd'hui.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50292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293D"/>
                </a:solidFill>
                <a:latin typeface="Cambria"/>
              </a:rPr>
              <a:t>L'analyse : quatre cartes de France</a:t>
            </a:r>
          </a:p>
        </p:txBody>
      </p:sp>
      <p:pic>
        <p:nvPicPr>
          <p:cNvPr id="3" name="Picture 2" descr="carte_facteu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0" y="1371600"/>
            <a:ext cx="2568136" cy="2057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737360" y="3474720"/>
            <a:ext cx="3116776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2293D"/>
                </a:solidFill>
                <a:latin typeface="Calibri"/>
              </a:rPr>
              <a:t>Production (kWh/kWc/an)</a:t>
            </a:r>
          </a:p>
        </p:txBody>
      </p:sp>
      <p:pic>
        <p:nvPicPr>
          <p:cNvPr id="5" name="Picture 4" descr="carte_lco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0960" y="1371600"/>
            <a:ext cx="2524772" cy="2057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3474720"/>
            <a:ext cx="307341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2293D"/>
                </a:solidFill>
                <a:latin typeface="Calibri"/>
              </a:rPr>
              <a:t>Prix de revient — LCOE (c/kWh)</a:t>
            </a:r>
          </a:p>
        </p:txBody>
      </p:sp>
      <p:pic>
        <p:nvPicPr>
          <p:cNvPr id="7" name="Picture 6" descr="carte_payback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11680" y="3931920"/>
            <a:ext cx="2553681" cy="2057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37360" y="6035040"/>
            <a:ext cx="3102321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2293D"/>
                </a:solidFill>
                <a:latin typeface="Calibri"/>
              </a:rPr>
              <a:t>Temps de retour (ans)</a:t>
            </a:r>
          </a:p>
        </p:txBody>
      </p:sp>
      <p:pic>
        <p:nvPicPr>
          <p:cNvPr id="9" name="Picture 8" descr="carte_tri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80960" y="3931920"/>
            <a:ext cx="2507908" cy="2057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06640" y="6035040"/>
            <a:ext cx="305654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2293D"/>
                </a:solidFill>
                <a:latin typeface="Calibri"/>
              </a:rPr>
              <a:t>Rendement — TRI (%)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486"/>
                </a:solidFill>
                <a:latin typeface="Calibri"/>
              </a:rPr>
              <a:t>Même message partout : production et rentabilité augmentent du Nord vers le Sud.</a:t>
            </a:r>
          </a:p>
        </p:txBody>
      </p:sp>
      <p:pic>
        <p:nvPicPr>
          <p:cNvPr id="12" name="Picture 2" descr="carte_facteu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0" y="1371600"/>
            <a:ext cx="2568136" cy="2057400"/>
          </a:xfrm>
          <a:prstGeom prst="rect">
            <a:avLst/>
          </a:prstGeom>
        </p:spPr>
      </p:pic>
      <p:sp>
        <p:nvSpPr>
          <p:cNvPr id="13" name="TextBox 3"/>
          <p:cNvSpPr txBox="1"/>
          <p:nvPr/>
        </p:nvSpPr>
        <p:spPr>
          <a:xfrm>
            <a:off x="1737360" y="3474720"/>
            <a:ext cx="3116776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2293D"/>
                </a:solidFill>
                <a:latin typeface="Calibri"/>
              </a:rPr>
              <a:t>Production (kWh/kWc/an)</a:t>
            </a:r>
          </a:p>
        </p:txBody>
      </p:sp>
      <p:pic>
        <p:nvPicPr>
          <p:cNvPr id="14" name="Picture 4" descr="carte_lco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0960" y="1371600"/>
            <a:ext cx="2524772" cy="2057400"/>
          </a:xfrm>
          <a:prstGeom prst="rect">
            <a:avLst/>
          </a:prstGeom>
        </p:spPr>
      </p:pic>
      <p:sp>
        <p:nvSpPr>
          <p:cNvPr id="15" name="TextBox 5"/>
          <p:cNvSpPr txBox="1"/>
          <p:nvPr/>
        </p:nvSpPr>
        <p:spPr>
          <a:xfrm>
            <a:off x="7406640" y="3474720"/>
            <a:ext cx="307341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2293D"/>
                </a:solidFill>
                <a:latin typeface="Calibri"/>
              </a:rPr>
              <a:t>Prix de revient — LCOE (c/kWh)</a:t>
            </a:r>
          </a:p>
        </p:txBody>
      </p:sp>
      <p:pic>
        <p:nvPicPr>
          <p:cNvPr id="16" name="Picture 6" descr="carte_payback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11680" y="3931920"/>
            <a:ext cx="2553681" cy="2057400"/>
          </a:xfrm>
          <a:prstGeom prst="rect">
            <a:avLst/>
          </a:prstGeom>
        </p:spPr>
      </p:pic>
      <p:sp>
        <p:nvSpPr>
          <p:cNvPr id="17" name="TextBox 7"/>
          <p:cNvSpPr txBox="1"/>
          <p:nvPr/>
        </p:nvSpPr>
        <p:spPr>
          <a:xfrm>
            <a:off x="1737360" y="6035040"/>
            <a:ext cx="3102321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2293D"/>
                </a:solidFill>
                <a:latin typeface="Calibri"/>
              </a:rPr>
              <a:t>Temps de retour (ans)</a:t>
            </a:r>
          </a:p>
        </p:txBody>
      </p:sp>
      <p:pic>
        <p:nvPicPr>
          <p:cNvPr id="18" name="Picture 8" descr="carte_tri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80960" y="3931920"/>
            <a:ext cx="2507908" cy="2057400"/>
          </a:xfrm>
          <a:prstGeom prst="rect">
            <a:avLst/>
          </a:prstGeom>
        </p:spPr>
      </p:pic>
      <p:sp>
        <p:nvSpPr>
          <p:cNvPr id="19" name="TextBox 9"/>
          <p:cNvSpPr txBox="1"/>
          <p:nvPr/>
        </p:nvSpPr>
        <p:spPr>
          <a:xfrm>
            <a:off x="7406640" y="6035040"/>
            <a:ext cx="305654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2293D"/>
                </a:solidFill>
                <a:latin typeface="Calibri"/>
              </a:rPr>
              <a:t>Rendement — TRI (%)</a:t>
            </a:r>
          </a:p>
        </p:txBody>
      </p:sp>
      <p:sp>
        <p:nvSpPr>
          <p:cNvPr id="20" name="TextBox 10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486"/>
                </a:solidFill>
                <a:latin typeface="Calibri"/>
              </a:rPr>
              <a:t>Même message partout : production et rentabilité augmentent du Nord vers le Sud.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6400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dirty="0" err="1">
                <a:solidFill>
                  <a:srgbClr val="12293D"/>
                </a:solidFill>
                <a:latin typeface="Cambria"/>
              </a:rPr>
              <a:t>Démonstration</a:t>
            </a:r>
            <a:r>
              <a:rPr sz="3000" b="1" dirty="0">
                <a:solidFill>
                  <a:srgbClr val="12293D"/>
                </a:solidFill>
                <a:latin typeface="Cambria"/>
              </a:rPr>
              <a:t> : </a:t>
            </a:r>
            <a:r>
              <a:rPr sz="3000" b="1" dirty="0" err="1">
                <a:solidFill>
                  <a:srgbClr val="12293D"/>
                </a:solidFill>
                <a:latin typeface="Cambria"/>
              </a:rPr>
              <a:t>l'outil</a:t>
            </a:r>
            <a:r>
              <a:rPr sz="3000" b="1" dirty="0">
                <a:solidFill>
                  <a:srgbClr val="12293D"/>
                </a:solidFill>
                <a:latin typeface="Cambria"/>
              </a:rPr>
              <a:t> </a:t>
            </a:r>
            <a:r>
              <a:rPr sz="3000" b="1" dirty="0" err="1">
                <a:solidFill>
                  <a:srgbClr val="12293D"/>
                </a:solidFill>
                <a:latin typeface="Cambria"/>
              </a:rPr>
              <a:t>interactif</a:t>
            </a:r>
            <a:endParaRPr sz="3000" b="1" dirty="0">
              <a:solidFill>
                <a:srgbClr val="12293D"/>
              </a:solidFill>
              <a:latin typeface="Cambria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914400" y="1691640"/>
            <a:ext cx="6035040" cy="3200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222B36"/>
                </a:solidFill>
                <a:latin typeface="Calibri"/>
              </a:rPr>
              <a:t>J'ai transformé l'analyse en une application web. On peut 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endParaRPr sz="1500" b="0">
              <a:solidFill>
                <a:srgbClr val="222B36"/>
              </a:solidFill>
              <a:latin typeface="Calibri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1">
                <a:solidFill>
                  <a:srgbClr val="F2A900"/>
                </a:solidFill>
                <a:latin typeface="Calibri"/>
              </a:rPr>
              <a:t>•  </a:t>
            </a:r>
            <a:r>
              <a:rPr sz="1450" b="0">
                <a:solidFill>
                  <a:srgbClr val="222B36"/>
                </a:solidFill>
                <a:latin typeface="Calibri"/>
              </a:rPr>
              <a:t>explorer la carte de France, indicateur par indicateur ;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1">
                <a:solidFill>
                  <a:srgbClr val="F2A900"/>
                </a:solidFill>
                <a:latin typeface="Calibri"/>
              </a:rPr>
              <a:t>•  </a:t>
            </a:r>
            <a:r>
              <a:rPr sz="1450" b="0">
                <a:solidFill>
                  <a:srgbClr val="222B36"/>
                </a:solidFill>
                <a:latin typeface="Calibri"/>
              </a:rPr>
              <a:t>choisir le scénario (régime, puissance) — hypothèses fixes ;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1">
                <a:solidFill>
                  <a:srgbClr val="F2A900"/>
                </a:solidFill>
                <a:latin typeface="Calibri"/>
              </a:rPr>
              <a:t>•  </a:t>
            </a:r>
            <a:r>
              <a:rPr sz="1450" b="0">
                <a:solidFill>
                  <a:srgbClr val="222B36"/>
                </a:solidFill>
                <a:latin typeface="Calibri"/>
              </a:rPr>
              <a:t>consulter le détail d'un département et exporter les données.</a:t>
            </a:r>
          </a:p>
        </p:txBody>
      </p:sp>
      <p:sp>
        <p:nvSpPr>
          <p:cNvPr id="10" name="TextBox 2"/>
          <p:cNvSpPr txBox="1"/>
          <p:nvPr/>
        </p:nvSpPr>
        <p:spPr>
          <a:xfrm>
            <a:off x="914400" y="1691640"/>
            <a:ext cx="6035040" cy="3200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dirty="0" err="1">
                <a:solidFill>
                  <a:srgbClr val="222B36"/>
                </a:solidFill>
                <a:latin typeface="Calibri"/>
              </a:rPr>
              <a:t>J'ai</a:t>
            </a:r>
            <a:r>
              <a:rPr sz="1500" b="0" dirty="0">
                <a:solidFill>
                  <a:srgbClr val="222B36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222B36"/>
                </a:solidFill>
                <a:latin typeface="Calibri"/>
              </a:rPr>
              <a:t>transformé</a:t>
            </a:r>
            <a:r>
              <a:rPr sz="1500" b="0" dirty="0">
                <a:solidFill>
                  <a:srgbClr val="222B36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222B36"/>
                </a:solidFill>
                <a:latin typeface="Calibri"/>
              </a:rPr>
              <a:t>l'analyse</a:t>
            </a:r>
            <a:r>
              <a:rPr sz="1500" b="0" dirty="0">
                <a:solidFill>
                  <a:srgbClr val="222B36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222B36"/>
                </a:solidFill>
                <a:latin typeface="Calibri"/>
              </a:rPr>
              <a:t>en</a:t>
            </a:r>
            <a:r>
              <a:rPr sz="1500" b="0" dirty="0">
                <a:solidFill>
                  <a:srgbClr val="222B36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222B36"/>
                </a:solidFill>
                <a:latin typeface="Calibri"/>
              </a:rPr>
              <a:t>une</a:t>
            </a:r>
            <a:r>
              <a:rPr sz="1500" b="0" dirty="0">
                <a:solidFill>
                  <a:srgbClr val="222B36"/>
                </a:solidFill>
                <a:latin typeface="Calibri"/>
              </a:rPr>
              <a:t> application web. On </a:t>
            </a:r>
            <a:r>
              <a:rPr sz="1500" b="0" dirty="0" err="1">
                <a:solidFill>
                  <a:srgbClr val="222B36"/>
                </a:solidFill>
                <a:latin typeface="Calibri"/>
              </a:rPr>
              <a:t>peut</a:t>
            </a:r>
            <a:r>
              <a:rPr sz="1500" b="0" dirty="0">
                <a:solidFill>
                  <a:srgbClr val="222B36"/>
                </a:solidFill>
                <a:latin typeface="Calibri"/>
              </a:rPr>
              <a:t> 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endParaRPr sz="1500" b="0" dirty="0">
              <a:solidFill>
                <a:srgbClr val="222B36"/>
              </a:solidFill>
              <a:latin typeface="Calibri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1" dirty="0">
                <a:solidFill>
                  <a:srgbClr val="F2A900"/>
                </a:solidFill>
                <a:latin typeface="Calibri"/>
              </a:rPr>
              <a:t>•  </a:t>
            </a:r>
            <a:r>
              <a:rPr sz="1450" b="0" dirty="0">
                <a:solidFill>
                  <a:srgbClr val="222B36"/>
                </a:solidFill>
                <a:latin typeface="Calibri"/>
              </a:rPr>
              <a:t>explorer la carte de France, </a:t>
            </a:r>
            <a:r>
              <a:rPr sz="1450" b="0" dirty="0" err="1">
                <a:solidFill>
                  <a:srgbClr val="222B36"/>
                </a:solidFill>
                <a:latin typeface="Calibri"/>
              </a:rPr>
              <a:t>indicateur</a:t>
            </a:r>
            <a:r>
              <a:rPr sz="1450" b="0" dirty="0">
                <a:solidFill>
                  <a:srgbClr val="222B36"/>
                </a:solidFill>
                <a:latin typeface="Calibri"/>
              </a:rPr>
              <a:t> par </a:t>
            </a:r>
            <a:r>
              <a:rPr sz="1450" b="0" dirty="0" err="1">
                <a:solidFill>
                  <a:srgbClr val="222B36"/>
                </a:solidFill>
                <a:latin typeface="Calibri"/>
              </a:rPr>
              <a:t>indicateur</a:t>
            </a:r>
            <a:r>
              <a:rPr sz="1450" b="0" dirty="0">
                <a:solidFill>
                  <a:srgbClr val="222B36"/>
                </a:solidFill>
                <a:latin typeface="Calibri"/>
              </a:rPr>
              <a:t> ;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1" dirty="0">
                <a:solidFill>
                  <a:srgbClr val="F2A900"/>
                </a:solidFill>
                <a:latin typeface="Calibri"/>
              </a:rPr>
              <a:t>•  </a:t>
            </a:r>
            <a:r>
              <a:rPr sz="1450" b="0" dirty="0" err="1">
                <a:solidFill>
                  <a:srgbClr val="222B36"/>
                </a:solidFill>
                <a:latin typeface="Calibri"/>
              </a:rPr>
              <a:t>choisir</a:t>
            </a:r>
            <a:r>
              <a:rPr sz="1450" b="0" dirty="0">
                <a:solidFill>
                  <a:srgbClr val="222B36"/>
                </a:solidFill>
                <a:latin typeface="Calibri"/>
              </a:rPr>
              <a:t> le </a:t>
            </a:r>
            <a:r>
              <a:rPr sz="1450" b="0" dirty="0" err="1">
                <a:solidFill>
                  <a:srgbClr val="222B36"/>
                </a:solidFill>
                <a:latin typeface="Calibri"/>
              </a:rPr>
              <a:t>scénario</a:t>
            </a:r>
            <a:r>
              <a:rPr sz="1450" b="0" dirty="0">
                <a:solidFill>
                  <a:srgbClr val="222B36"/>
                </a:solidFill>
                <a:latin typeface="Calibri"/>
              </a:rPr>
              <a:t> (régime, puissance) — </a:t>
            </a:r>
            <a:r>
              <a:rPr sz="1450" b="0" dirty="0" err="1">
                <a:solidFill>
                  <a:srgbClr val="222B36"/>
                </a:solidFill>
                <a:latin typeface="Calibri"/>
              </a:rPr>
              <a:t>hypothèses</a:t>
            </a:r>
            <a:r>
              <a:rPr sz="1450" b="0" dirty="0">
                <a:solidFill>
                  <a:srgbClr val="222B36"/>
                </a:solidFill>
                <a:latin typeface="Calibri"/>
              </a:rPr>
              <a:t> fixes ;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1" dirty="0">
                <a:solidFill>
                  <a:srgbClr val="F2A900"/>
                </a:solidFill>
                <a:latin typeface="Calibri"/>
              </a:rPr>
              <a:t>•  </a:t>
            </a:r>
            <a:r>
              <a:rPr sz="1450" b="0" dirty="0">
                <a:solidFill>
                  <a:srgbClr val="222B36"/>
                </a:solidFill>
                <a:latin typeface="Calibri"/>
              </a:rPr>
              <a:t>consulter le </a:t>
            </a:r>
            <a:r>
              <a:rPr sz="1450" b="0" dirty="0" err="1">
                <a:solidFill>
                  <a:srgbClr val="222B36"/>
                </a:solidFill>
                <a:latin typeface="Calibri"/>
              </a:rPr>
              <a:t>détail</a:t>
            </a:r>
            <a:r>
              <a:rPr sz="1450" b="0" dirty="0">
                <a:solidFill>
                  <a:srgbClr val="222B36"/>
                </a:solidFill>
                <a:latin typeface="Calibri"/>
              </a:rPr>
              <a:t> d'un département et exporter les données.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29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68580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Cambria"/>
              </a:rPr>
              <a:t>Ce que l'analyse conclut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74519"/>
            <a:ext cx="237744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2A900"/>
                </a:solidFill>
                <a:latin typeface="Cambria"/>
              </a:rPr>
              <a:t>6–8 ans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920239"/>
            <a:ext cx="7863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mbria"/>
              </a:rPr>
              <a:t>Rentable partout en France.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2423160"/>
            <a:ext cx="78638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dirty="0">
                <a:solidFill>
                  <a:srgbClr val="E6EDF4"/>
                </a:solidFill>
                <a:latin typeface="Calibri"/>
              </a:rPr>
              <a:t>Temps de retour court, TRI ~14 % — </a:t>
            </a:r>
            <a:r>
              <a:rPr sz="1350" b="0" dirty="0" err="1">
                <a:solidFill>
                  <a:srgbClr val="E6EDF4"/>
                </a:solidFill>
                <a:latin typeface="Calibri"/>
              </a:rPr>
              <a:t>produire</a:t>
            </a:r>
            <a:r>
              <a:rPr sz="1350" b="0" dirty="0">
                <a:solidFill>
                  <a:srgbClr val="E6EDF4"/>
                </a:solidFill>
                <a:latin typeface="Calibri"/>
              </a:rPr>
              <a:t> </a:t>
            </a:r>
            <a:r>
              <a:rPr sz="1350" b="0" dirty="0" err="1">
                <a:solidFill>
                  <a:srgbClr val="E6EDF4"/>
                </a:solidFill>
                <a:latin typeface="Calibri"/>
              </a:rPr>
              <a:t>coûte</a:t>
            </a:r>
            <a:r>
              <a:rPr sz="1350" b="0" dirty="0">
                <a:solidFill>
                  <a:srgbClr val="E6EDF4"/>
                </a:solidFill>
                <a:latin typeface="Calibri"/>
              </a:rPr>
              <a:t> 2 à 3× </a:t>
            </a:r>
            <a:r>
              <a:rPr sz="1350" b="0" dirty="0" err="1">
                <a:solidFill>
                  <a:srgbClr val="E6EDF4"/>
                </a:solidFill>
                <a:latin typeface="Calibri"/>
              </a:rPr>
              <a:t>moins</a:t>
            </a:r>
            <a:r>
              <a:rPr sz="1350" b="0" dirty="0">
                <a:solidFill>
                  <a:srgbClr val="E6EDF4"/>
                </a:solidFill>
                <a:latin typeface="Calibri"/>
              </a:rPr>
              <a:t> </a:t>
            </a:r>
            <a:r>
              <a:rPr sz="1350" b="0" dirty="0" err="1">
                <a:solidFill>
                  <a:srgbClr val="E6EDF4"/>
                </a:solidFill>
                <a:latin typeface="Calibri"/>
              </a:rPr>
              <a:t>cher</a:t>
            </a:r>
            <a:r>
              <a:rPr sz="1350" b="0" dirty="0">
                <a:solidFill>
                  <a:srgbClr val="E6EDF4"/>
                </a:solidFill>
                <a:latin typeface="Calibri"/>
              </a:rPr>
              <a:t> </a:t>
            </a:r>
            <a:r>
              <a:rPr sz="1350" b="0" dirty="0" err="1">
                <a:solidFill>
                  <a:srgbClr val="E6EDF4"/>
                </a:solidFill>
                <a:latin typeface="Calibri"/>
              </a:rPr>
              <a:t>qu'acheter</a:t>
            </a:r>
            <a:r>
              <a:rPr sz="1350" b="0" dirty="0">
                <a:solidFill>
                  <a:srgbClr val="E6EDF4"/>
                </a:solidFill>
                <a:latin typeface="Calibri"/>
              </a:rPr>
              <a:t> au réseau.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0" y="3172968"/>
            <a:ext cx="7863840" cy="15240"/>
          </a:xfrm>
          <a:prstGeom prst="rect">
            <a:avLst/>
          </a:prstGeom>
          <a:solidFill>
            <a:srgbClr val="2A4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3291839"/>
            <a:ext cx="237744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2A900"/>
                </a:solidFill>
                <a:latin typeface="Cambria"/>
              </a:rPr>
              <a:t>+43 %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3337559"/>
            <a:ext cx="7863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mbria"/>
              </a:rPr>
              <a:t>Plus performant au Sud.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3840479"/>
            <a:ext cx="78638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E6EDF4"/>
                </a:solidFill>
                <a:latin typeface="Calibri"/>
              </a:rPr>
              <a:t>Production et rentabilité augmentent vers le Sud, mais restent attractives partout.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0" y="4590288"/>
            <a:ext cx="7863840" cy="15240"/>
          </a:xfrm>
          <a:prstGeom prst="rect">
            <a:avLst/>
          </a:prstGeom>
          <a:solidFill>
            <a:srgbClr val="2A4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4709160"/>
            <a:ext cx="237744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2A900"/>
                </a:solidFill>
                <a:latin typeface="Cambria"/>
              </a:rPr>
              <a:t>Autoconso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4754880"/>
            <a:ext cx="7863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mbria"/>
              </a:rPr>
              <a:t>Consommer plutôt que revendre.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5257800"/>
            <a:ext cx="78638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E6EDF4"/>
                </a:solidFill>
                <a:latin typeface="Calibri"/>
              </a:rPr>
              <a:t>L'électricité qu'on évite d'acheter vaut plus que celle qu'on revend.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29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Cambria"/>
              </a:rPr>
              <a:t>Merci de votre attention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332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ADCFC"/>
                </a:solidFill>
                <a:latin typeface="Calibri"/>
              </a:rPr>
              <a:t>Le solaire sur les toits d'entreprise est rentable partout en France — </a:t>
            </a:r>
            <a:r>
              <a:rPr sz="1600" b="1">
                <a:solidFill>
                  <a:srgbClr val="F2A900"/>
                </a:solidFill>
                <a:latin typeface="Calibri"/>
              </a:rPr>
              <a:t>et encore plus au Sud.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332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2A900"/>
                </a:solidFill>
                <a:latin typeface="Cambria"/>
              </a:rPr>
              <a:t>Place à vos questions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332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EB2C9"/>
                </a:solidFill>
                <a:latin typeface="Calibri"/>
              </a:rPr>
              <a:t>Imene BELHOCINE   ·   Workshop client — Oxand   ·   MBA M2 Big Data &amp; 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910</Words>
  <Application>Microsoft Office PowerPoint</Application>
  <PresentationFormat>Grand écran</PresentationFormat>
  <Paragraphs>153</Paragraphs>
  <Slides>12</Slides>
  <Notes>12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Cambria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Imene BELHOCINE</cp:lastModifiedBy>
  <cp:revision>1</cp:revision>
  <dcterms:created xsi:type="dcterms:W3CDTF">2013-01-27T09:14:16Z</dcterms:created>
  <dcterms:modified xsi:type="dcterms:W3CDTF">2026-07-07T21:31:48Z</dcterms:modified>
  <cp:category/>
</cp:coreProperties>
</file>